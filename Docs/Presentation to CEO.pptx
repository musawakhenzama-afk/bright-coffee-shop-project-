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9" r:id="rId2"/>
    <p:sldId id="269" r:id="rId3"/>
    <p:sldId id="271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Weekly Revenue by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10342</c:v>
                </c:pt>
                <c:pt idx="1">
                  <c:v>10362</c:v>
                </c:pt>
                <c:pt idx="2">
                  <c:v>9720</c:v>
                </c:pt>
                <c:pt idx="3">
                  <c:v>9981</c:v>
                </c:pt>
                <c:pt idx="4">
                  <c:v>10384</c:v>
                </c:pt>
                <c:pt idx="5">
                  <c:v>9743</c:v>
                </c:pt>
                <c:pt idx="6">
                  <c:v>10459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DF-4E33-B2FF-F10CEE8365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10567</c:v>
                </c:pt>
                <c:pt idx="1">
                  <c:v>10121</c:v>
                </c:pt>
                <c:pt idx="2">
                  <c:v>9773</c:v>
                </c:pt>
                <c:pt idx="3">
                  <c:v>10270</c:v>
                </c:pt>
                <c:pt idx="4">
                  <c:v>10345</c:v>
                </c:pt>
                <c:pt idx="5">
                  <c:v>10583</c:v>
                </c:pt>
                <c:pt idx="6">
                  <c:v>10078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DF-4E33-B2FF-F10CEE8365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10298</c:v>
                </c:pt>
                <c:pt idx="1">
                  <c:v>10748</c:v>
                </c:pt>
                <c:pt idx="2">
                  <c:v>10121</c:v>
                </c:pt>
                <c:pt idx="3">
                  <c:v>9931</c:v>
                </c:pt>
                <c:pt idx="4">
                  <c:v>10433</c:v>
                </c:pt>
                <c:pt idx="5">
                  <c:v>10123</c:v>
                </c:pt>
                <c:pt idx="6">
                  <c:v>10088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DF-4E33-B2FF-F10CEE836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64283183"/>
        <c:axId val="864277903"/>
      </c:barChart>
      <c:catAx>
        <c:axId val="86428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77903"/>
        <c:crosses val="autoZero"/>
        <c:auto val="1"/>
        <c:lblAlgn val="ctr"/>
        <c:lblOffset val="100"/>
        <c:noMultiLvlLbl val="0"/>
      </c:catAx>
      <c:valAx>
        <c:axId val="864277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8318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0.11760764792497785</c:v>
                </c:pt>
                <c:pt idx="1">
                  <c:v>0.10809902399593699</c:v>
                </c:pt>
                <c:pt idx="2">
                  <c:v>0.14138338439100612</c:v>
                </c:pt>
                <c:pt idx="3">
                  <c:v>0.16998340236348963</c:v>
                </c:pt>
                <c:pt idx="4">
                  <c:v>0.22574869670425218</c:v>
                </c:pt>
                <c:pt idx="5">
                  <c:v>0.23717784462033731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E-4F8A-A697-F18B92A2D2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0.11762932803554341</c:v>
                </c:pt>
                <c:pt idx="1">
                  <c:v>0.10874666088709532</c:v>
                </c:pt>
                <c:pt idx="2">
                  <c:v>0.13999579808429385</c:v>
                </c:pt>
                <c:pt idx="3">
                  <c:v>0.17041114802315696</c:v>
                </c:pt>
                <c:pt idx="4">
                  <c:v>0.22239511985839722</c:v>
                </c:pt>
                <c:pt idx="5">
                  <c:v>0.2408219451115132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8E-4F8A-A697-F18B92A2D2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0.11537749842702245</c:v>
                </c:pt>
                <c:pt idx="1">
                  <c:v>0.11005977859858825</c:v>
                </c:pt>
                <c:pt idx="2">
                  <c:v>0.14295867659028358</c:v>
                </c:pt>
                <c:pt idx="3">
                  <c:v>0.17021558764177133</c:v>
                </c:pt>
                <c:pt idx="4">
                  <c:v>0.22472697556803761</c:v>
                </c:pt>
                <c:pt idx="5">
                  <c:v>0.23666148317429683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8E-4F8A-A697-F18B92A2D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73083471"/>
        <c:axId val="973086351"/>
      </c:barChart>
      <c:catAx>
        <c:axId val="97308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3086351"/>
        <c:crosses val="autoZero"/>
        <c:auto val="1"/>
        <c:lblAlgn val="ctr"/>
        <c:lblOffset val="100"/>
        <c:noMultiLvlLbl val="0"/>
      </c:catAx>
      <c:valAx>
        <c:axId val="973086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3083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"R"#\ ##0.00</c:formatCode>
                <c:ptCount val="6"/>
                <c:pt idx="0">
                  <c:v>9535.7499999999891</c:v>
                </c:pt>
                <c:pt idx="1">
                  <c:v>9038.8199999999888</c:v>
                </c:pt>
                <c:pt idx="2">
                  <c:v>11902.579999999984</c:v>
                </c:pt>
                <c:pt idx="3">
                  <c:v>14021.699999999981</c:v>
                </c:pt>
                <c:pt idx="4">
                  <c:v>18565.519999999997</c:v>
                </c:pt>
                <c:pt idx="5">
                  <c:v>19251.269999999993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AC-4680-A82A-3EBF38230E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"R"#\ ##0.00</c:formatCode>
                <c:ptCount val="6"/>
                <c:pt idx="0">
                  <c:v>1890</c:v>
                </c:pt>
                <c:pt idx="1">
                  <c:v>1235</c:v>
                </c:pt>
                <c:pt idx="2">
                  <c:v>1801</c:v>
                </c:pt>
                <c:pt idx="3">
                  <c:v>2379</c:v>
                </c:pt>
                <c:pt idx="4">
                  <c:v>2889</c:v>
                </c:pt>
                <c:pt idx="5">
                  <c:v>3413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AC-4680-A82A-3EBF38230E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"R"#\ ##0.00</c:formatCode>
                <c:ptCount val="6"/>
                <c:pt idx="0">
                  <c:v>31256.850000000391</c:v>
                </c:pt>
                <c:pt idx="1">
                  <c:v>29268.950000000281</c:v>
                </c:pt>
                <c:pt idx="2">
                  <c:v>38303.600000000049</c:v>
                </c:pt>
                <c:pt idx="3">
                  <c:v>45971.199999999866</c:v>
                </c:pt>
                <c:pt idx="4">
                  <c:v>60362.849999999278</c:v>
                </c:pt>
                <c:pt idx="5">
                  <c:v>64788.999999999054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AC-4680-A82A-3EBF38230E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"R"#\ ##0.00</c:formatCode>
                <c:ptCount val="6"/>
                <c:pt idx="0">
                  <c:v>5245.2499999999982</c:v>
                </c:pt>
                <c:pt idx="1">
                  <c:v>4077.4999999999991</c:v>
                </c:pt>
                <c:pt idx="2">
                  <c:v>5256.1999999999971</c:v>
                </c:pt>
                <c:pt idx="3">
                  <c:v>6824.6999999999971</c:v>
                </c:pt>
                <c:pt idx="4">
                  <c:v>8768.9499999999971</c:v>
                </c:pt>
                <c:pt idx="5">
                  <c:v>9912.6500000000015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AC-4680-A82A-3EBF38230EE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"R"#\ ##0.00</c:formatCode>
                <c:ptCount val="6"/>
                <c:pt idx="0">
                  <c:v>8337.75</c:v>
                </c:pt>
                <c:pt idx="1">
                  <c:v>8132.25</c:v>
                </c:pt>
                <c:pt idx="2">
                  <c:v>10253.5</c:v>
                </c:pt>
                <c:pt idx="3">
                  <c:v>12266.75</c:v>
                </c:pt>
                <c:pt idx="4">
                  <c:v>16319.75</c:v>
                </c:pt>
                <c:pt idx="5">
                  <c:v>17106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AC-4680-A82A-3EBF38230EE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"R"#\ ##0.00</c:formatCode>
                <c:ptCount val="6"/>
                <c:pt idx="0">
                  <c:v>974.4</c:v>
                </c:pt>
                <c:pt idx="1">
                  <c:v>930.39999999999975</c:v>
                </c:pt>
                <c:pt idx="2">
                  <c:v>1171.9999999999898</c:v>
                </c:pt>
                <c:pt idx="3">
                  <c:v>1418.3999999999755</c:v>
                </c:pt>
                <c:pt idx="4">
                  <c:v>1905.5999999999476</c:v>
                </c:pt>
                <c:pt idx="5">
                  <c:v>2007.9999999999429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AC-4680-A82A-3EBF38230EE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"R"#\ ##0.00</c:formatCode>
                <c:ptCount val="6"/>
                <c:pt idx="0">
                  <c:v>1293.8500000000024</c:v>
                </c:pt>
                <c:pt idx="1">
                  <c:v>1277.8500000000024</c:v>
                </c:pt>
                <c:pt idx="2">
                  <c:v>1646.9500000000037</c:v>
                </c:pt>
                <c:pt idx="3">
                  <c:v>1829.1500000000042</c:v>
                </c:pt>
                <c:pt idx="4">
                  <c:v>2395.1500000000005</c:v>
                </c:pt>
                <c:pt idx="5">
                  <c:v>2770.649999999996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AC-4680-A82A-3EBF38230EE0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Sheet1!$I$2:$I$7</c:f>
              <c:numCache>
                <c:formatCode>"R"#\ ##0.00</c:formatCode>
                <c:ptCount val="6"/>
                <c:pt idx="0">
                  <c:v>521.94000000000005</c:v>
                </c:pt>
                <c:pt idx="1">
                  <c:v>451.02</c:v>
                </c:pt>
                <c:pt idx="2">
                  <c:v>588.20000000000005</c:v>
                </c:pt>
                <c:pt idx="3">
                  <c:v>873.2300000000007</c:v>
                </c:pt>
                <c:pt idx="4">
                  <c:v>981.09000000000094</c:v>
                </c:pt>
                <c:pt idx="5">
                  <c:v>992.16000000000088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7AC-4680-A82A-3EBF38230EE0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Sheet1!$J$2:$J$7</c:f>
              <c:numCache>
                <c:formatCode>"R"#\ ##0.00</c:formatCode>
                <c:ptCount val="6"/>
                <c:pt idx="0">
                  <c:v>22621.949999999961</c:v>
                </c:pt>
                <c:pt idx="1">
                  <c:v>21733.399999999976</c:v>
                </c:pt>
                <c:pt idx="2">
                  <c:v>27910.649999999816</c:v>
                </c:pt>
                <c:pt idx="3">
                  <c:v>33356.94999999975</c:v>
                </c:pt>
                <c:pt idx="4">
                  <c:v>44539.849999999511</c:v>
                </c:pt>
                <c:pt idx="5">
                  <c:v>46243.149999999441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AC-4680-A82A-3EBF38230E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09381072"/>
        <c:axId val="709379632"/>
      </c:barChart>
      <c:catAx>
        <c:axId val="709381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379632"/>
        <c:crosses val="autoZero"/>
        <c:auto val="1"/>
        <c:lblAlgn val="ctr"/>
        <c:lblOffset val="100"/>
        <c:noMultiLvlLbl val="0"/>
      </c:catAx>
      <c:valAx>
        <c:axId val="709379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381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"R"#\ ##0.00</c:formatCode>
                <c:ptCount val="7"/>
                <c:pt idx="0">
                  <c:v>11902.499999999987</c:v>
                </c:pt>
                <c:pt idx="1">
                  <c:v>12244.169999999996</c:v>
                </c:pt>
                <c:pt idx="2">
                  <c:v>11325.099999999989</c:v>
                </c:pt>
                <c:pt idx="3">
                  <c:v>11537.449999999995</c:v>
                </c:pt>
                <c:pt idx="4">
                  <c:v>11900.169999999995</c:v>
                </c:pt>
                <c:pt idx="5">
                  <c:v>11542.429999999997</c:v>
                </c:pt>
                <c:pt idx="6">
                  <c:v>11863.819999999987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4-470B-90F2-8413124043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Sheet1!$C$2:$C$8</c:f>
              <c:numCache>
                <c:formatCode>"R"#\ ##0.00</c:formatCode>
                <c:ptCount val="7"/>
                <c:pt idx="0">
                  <c:v>1991</c:v>
                </c:pt>
                <c:pt idx="1">
                  <c:v>1662</c:v>
                </c:pt>
                <c:pt idx="2">
                  <c:v>1948</c:v>
                </c:pt>
                <c:pt idx="3">
                  <c:v>2093</c:v>
                </c:pt>
                <c:pt idx="4">
                  <c:v>1650</c:v>
                </c:pt>
                <c:pt idx="5">
                  <c:v>2054</c:v>
                </c:pt>
                <c:pt idx="6">
                  <c:v>2209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F4-470B-90F2-8413124043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Sheet1!$D$2:$D$8</c:f>
              <c:numCache>
                <c:formatCode>"R"#\ ##0.00</c:formatCode>
                <c:ptCount val="7"/>
                <c:pt idx="0">
                  <c:v>39568.250000000218</c:v>
                </c:pt>
                <c:pt idx="1">
                  <c:v>39322.10000000018</c:v>
                </c:pt>
                <c:pt idx="2">
                  <c:v>37169.100000000188</c:v>
                </c:pt>
                <c:pt idx="3">
                  <c:v>38136.550000000207</c:v>
                </c:pt>
                <c:pt idx="4">
                  <c:v>38993.750000000182</c:v>
                </c:pt>
                <c:pt idx="5">
                  <c:v>38376.500000000291</c:v>
                </c:pt>
                <c:pt idx="6">
                  <c:v>38386.200000000266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F4-470B-90F2-8413124043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Sheet1!$E$2:$E$8</c:f>
              <c:numCache>
                <c:formatCode>"R"#\ ##0.00</c:formatCode>
                <c:ptCount val="7"/>
                <c:pt idx="0">
                  <c:v>5704.3499999999967</c:v>
                </c:pt>
                <c:pt idx="1">
                  <c:v>5922.9999999999982</c:v>
                </c:pt>
                <c:pt idx="2">
                  <c:v>6123.1499999999987</c:v>
                </c:pt>
                <c:pt idx="3">
                  <c:v>5421.9499999999971</c:v>
                </c:pt>
                <c:pt idx="4">
                  <c:v>4691.7999999999984</c:v>
                </c:pt>
                <c:pt idx="5">
                  <c:v>6182.5499999999975</c:v>
                </c:pt>
                <c:pt idx="6">
                  <c:v>6038.449999999998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F4-470B-90F2-84131240435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Sheet1!$F$2:$F$8</c:f>
              <c:numCache>
                <c:formatCode>"R"#\ ##0.00</c:formatCode>
                <c:ptCount val="7"/>
                <c:pt idx="0">
                  <c:v>10152.5</c:v>
                </c:pt>
                <c:pt idx="1">
                  <c:v>10809.5</c:v>
                </c:pt>
                <c:pt idx="2">
                  <c:v>10103</c:v>
                </c:pt>
                <c:pt idx="3">
                  <c:v>10107.25</c:v>
                </c:pt>
                <c:pt idx="4">
                  <c:v>10941.75</c:v>
                </c:pt>
                <c:pt idx="5">
                  <c:v>10084.5</c:v>
                </c:pt>
                <c:pt idx="6">
                  <c:v>10217.5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F4-470B-90F2-84131240435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Sheet1!$G$2:$G$8</c:f>
              <c:numCache>
                <c:formatCode>"R"#\ ##0.00</c:formatCode>
                <c:ptCount val="7"/>
                <c:pt idx="0">
                  <c:v>1263.1999999999857</c:v>
                </c:pt>
                <c:pt idx="1">
                  <c:v>1155.199999999991</c:v>
                </c:pt>
                <c:pt idx="2">
                  <c:v>1215.9999999999884</c:v>
                </c:pt>
                <c:pt idx="3">
                  <c:v>1186.399999999991</c:v>
                </c:pt>
                <c:pt idx="4">
                  <c:v>1074.3999999999962</c:v>
                </c:pt>
                <c:pt idx="5">
                  <c:v>1291.9999999999829</c:v>
                </c:pt>
                <c:pt idx="6">
                  <c:v>1221.5999999999872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4F4-470B-90F2-84131240435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Sheet1!$H$2:$H$8</c:f>
              <c:numCache>
                <c:formatCode>"R"#\ ##0.00</c:formatCode>
                <c:ptCount val="7"/>
                <c:pt idx="0">
                  <c:v>1685.8500000000038</c:v>
                </c:pt>
                <c:pt idx="1">
                  <c:v>1491.6000000000029</c:v>
                </c:pt>
                <c:pt idx="2">
                  <c:v>1478.1000000000029</c:v>
                </c:pt>
                <c:pt idx="3">
                  <c:v>1642.3500000000042</c:v>
                </c:pt>
                <c:pt idx="4">
                  <c:v>1620.3500000000035</c:v>
                </c:pt>
                <c:pt idx="5">
                  <c:v>1644.9000000000037</c:v>
                </c:pt>
                <c:pt idx="6">
                  <c:v>1650.4500000000037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F4-470B-90F2-84131240435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Sheet1!$I$2:$I$8</c:f>
              <c:numCache>
                <c:formatCode>"R"#\ ##0.00</c:formatCode>
                <c:ptCount val="7"/>
                <c:pt idx="0">
                  <c:v>593.4000000000002</c:v>
                </c:pt>
                <c:pt idx="1">
                  <c:v>543.01</c:v>
                </c:pt>
                <c:pt idx="2">
                  <c:v>543.68000000000018</c:v>
                </c:pt>
                <c:pt idx="3">
                  <c:v>743.51000000000056</c:v>
                </c:pt>
                <c:pt idx="4">
                  <c:v>723.11000000000058</c:v>
                </c:pt>
                <c:pt idx="5">
                  <c:v>634.06000000000006</c:v>
                </c:pt>
                <c:pt idx="6">
                  <c:v>626.87000000000023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4F4-470B-90F2-841312404352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Friday</c:v>
                </c:pt>
                <c:pt idx="1">
                  <c:v>Monday</c:v>
                </c:pt>
                <c:pt idx="2">
                  <c:v>Saturday</c:v>
                </c:pt>
                <c:pt idx="3">
                  <c:v>Sunday</c:v>
                </c:pt>
                <c:pt idx="4">
                  <c:v>Thursday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Sheet1!$J$2:$J$8</c:f>
              <c:numCache>
                <c:formatCode>"R"#\ ##0.00</c:formatCode>
                <c:ptCount val="7"/>
                <c:pt idx="0">
                  <c:v>28511.949999999786</c:v>
                </c:pt>
                <c:pt idx="1">
                  <c:v>28526.699999999775</c:v>
                </c:pt>
                <c:pt idx="2">
                  <c:v>26988.349999999846</c:v>
                </c:pt>
                <c:pt idx="3">
                  <c:v>27461.84999999986</c:v>
                </c:pt>
                <c:pt idx="4">
                  <c:v>29172.449999999822</c:v>
                </c:pt>
                <c:pt idx="5">
                  <c:v>27644.999999999851</c:v>
                </c:pt>
                <c:pt idx="6">
                  <c:v>28099.649999999812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F4-470B-90F2-8413124043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711469008"/>
        <c:axId val="711469488"/>
      </c:barChart>
      <c:catAx>
        <c:axId val="71146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469488"/>
        <c:crosses val="autoZero"/>
        <c:auto val="1"/>
        <c:lblAlgn val="ctr"/>
        <c:lblOffset val="100"/>
        <c:noMultiLvlLbl val="0"/>
      </c:catAx>
      <c:valAx>
        <c:axId val="711469488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46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Quantity</a:t>
            </a:r>
            <a:r>
              <a:rPr lang="en-ZA" baseline="0"/>
              <a:t> Sold by Product Category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TOTAL_QUANTITY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 Coffee </c:v>
                </c:pt>
                <c:pt idx="1">
                  <c:v> Tea </c:v>
                </c:pt>
                <c:pt idx="2">
                  <c:v> Bakery </c:v>
                </c:pt>
                <c:pt idx="3">
                  <c:v> Drinking Chocolate </c:v>
                </c:pt>
                <c:pt idx="4">
                  <c:v> Flavours </c:v>
                </c:pt>
                <c:pt idx="5">
                  <c:v> Coffee beans </c:v>
                </c:pt>
                <c:pt idx="6">
                  <c:v> Loose Tea </c:v>
                </c:pt>
                <c:pt idx="7">
                  <c:v> Branded </c:v>
                </c:pt>
                <c:pt idx="8">
                  <c:v> Packaged Chocolate </c:v>
                </c:pt>
              </c:strCache>
            </c:strRef>
          </c:cat>
          <c:val>
            <c:numRef>
              <c:f>Sheet1!$B$2:$B$10</c:f>
              <c:numCache>
                <c:formatCode>#,##0.00</c:formatCode>
                <c:ptCount val="9"/>
                <c:pt idx="0">
                  <c:v>89250</c:v>
                </c:pt>
                <c:pt idx="1">
                  <c:v>69737</c:v>
                </c:pt>
                <c:pt idx="2">
                  <c:v>23214</c:v>
                </c:pt>
                <c:pt idx="3">
                  <c:v>17457</c:v>
                </c:pt>
                <c:pt idx="4">
                  <c:v>10511</c:v>
                </c:pt>
                <c:pt idx="5">
                  <c:v>1828</c:v>
                </c:pt>
                <c:pt idx="6">
                  <c:v>1210</c:v>
                </c:pt>
                <c:pt idx="7" formatCode="General">
                  <c:v>776</c:v>
                </c:pt>
                <c:pt idx="8" formatCode="General">
                  <c:v>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A0-4783-96EE-F2F01B6215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TOTAL_REVENUE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 Coffee </c:v>
                </c:pt>
                <c:pt idx="1">
                  <c:v> Tea </c:v>
                </c:pt>
                <c:pt idx="2">
                  <c:v> Bakery </c:v>
                </c:pt>
                <c:pt idx="3">
                  <c:v> Drinking Chocolate </c:v>
                </c:pt>
                <c:pt idx="4">
                  <c:v> Flavours </c:v>
                </c:pt>
                <c:pt idx="5">
                  <c:v> Coffee beans </c:v>
                </c:pt>
                <c:pt idx="6">
                  <c:v> Loose Tea </c:v>
                </c:pt>
                <c:pt idx="7">
                  <c:v> Branded </c:v>
                </c:pt>
                <c:pt idx="8">
                  <c:v> Packaged Chocolate </c:v>
                </c:pt>
              </c:strCache>
            </c:strRef>
          </c:cat>
          <c:val>
            <c:numRef>
              <c:f>Sheet1!$C$2:$C$10</c:f>
              <c:numCache>
                <c:formatCode>"R"#,##0.00_);[Red]\("R"#,##0.00\)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8408.7999999999993</c:v>
                </c:pt>
                <c:pt idx="5">
                  <c:v>40085.25</c:v>
                </c:pt>
                <c:pt idx="6">
                  <c:v>11213.6</c:v>
                </c:pt>
                <c:pt idx="7">
                  <c:v>13607</c:v>
                </c:pt>
                <c:pt idx="8">
                  <c:v>4407.6400000000003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A0-4783-96EE-F2F01B621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4286543"/>
        <c:axId val="864287023"/>
      </c:lineChart>
      <c:catAx>
        <c:axId val="86428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87023"/>
        <c:crosses val="autoZero"/>
        <c:auto val="1"/>
        <c:lblAlgn val="ctr"/>
        <c:lblOffset val="100"/>
        <c:noMultiLvlLbl val="0"/>
      </c:catAx>
      <c:valAx>
        <c:axId val="86428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86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51AC82-0400-48FA-98EE-35F3BD506E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B8F894-8851-4923-9D74-73135E4CA3B4}">
      <dgm:prSet/>
      <dgm:spPr/>
      <dgm:t>
        <a:bodyPr/>
        <a:lstStyle/>
        <a:p>
          <a:r>
            <a:rPr lang="en-GB" b="1"/>
            <a:t>Weekly Transactions Summary — Bright Coffee Shop</a:t>
          </a:r>
          <a:endParaRPr lang="en-US"/>
        </a:p>
      </dgm:t>
    </dgm:pt>
    <dgm:pt modelId="{C7112FCF-A312-4C12-9BFF-674D51E8295C}" type="parTrans" cxnId="{987D3279-E9F4-45E3-A8E4-50E03A51B216}">
      <dgm:prSet/>
      <dgm:spPr/>
      <dgm:t>
        <a:bodyPr/>
        <a:lstStyle/>
        <a:p>
          <a:endParaRPr lang="en-US"/>
        </a:p>
      </dgm:t>
    </dgm:pt>
    <dgm:pt modelId="{BC01AFF6-D677-4C3A-AE57-33AC04EDC63A}" type="sibTrans" cxnId="{987D3279-E9F4-45E3-A8E4-50E03A51B216}">
      <dgm:prSet/>
      <dgm:spPr/>
      <dgm:t>
        <a:bodyPr/>
        <a:lstStyle/>
        <a:p>
          <a:endParaRPr lang="en-US"/>
        </a:p>
      </dgm:t>
    </dgm:pt>
    <dgm:pt modelId="{2923FF21-12B0-4CC0-88A4-F56CEA57505A}">
      <dgm:prSet/>
      <dgm:spPr/>
      <dgm:t>
        <a:bodyPr/>
        <a:lstStyle/>
        <a:p>
          <a:r>
            <a:rPr lang="en-GB" b="1"/>
            <a:t>Monday and Friday</a:t>
          </a:r>
          <a:r>
            <a:rPr lang="en-GB"/>
            <a:t> are the busiest days, driving the highest transaction volumes.</a:t>
          </a:r>
          <a:endParaRPr lang="en-US"/>
        </a:p>
      </dgm:t>
    </dgm:pt>
    <dgm:pt modelId="{8A3FECDB-2CB3-404D-9B49-BF8C2BC802D5}" type="parTrans" cxnId="{2B468348-1850-42B3-BE63-86A22DB098B5}">
      <dgm:prSet/>
      <dgm:spPr/>
      <dgm:t>
        <a:bodyPr/>
        <a:lstStyle/>
        <a:p>
          <a:endParaRPr lang="en-US"/>
        </a:p>
      </dgm:t>
    </dgm:pt>
    <dgm:pt modelId="{E8C1559C-7B1C-4D3E-9875-9BF02941F15F}" type="sibTrans" cxnId="{2B468348-1850-42B3-BE63-86A22DB098B5}">
      <dgm:prSet/>
      <dgm:spPr/>
      <dgm:t>
        <a:bodyPr/>
        <a:lstStyle/>
        <a:p>
          <a:endParaRPr lang="en-US"/>
        </a:p>
      </dgm:t>
    </dgm:pt>
    <dgm:pt modelId="{835155CA-0EC0-48CB-B8C9-419B7B1B30A4}">
      <dgm:prSet/>
      <dgm:spPr/>
      <dgm:t>
        <a:bodyPr/>
        <a:lstStyle/>
        <a:p>
          <a:r>
            <a:rPr lang="en-GB" b="1"/>
            <a:t>Saturday and Sunday</a:t>
          </a:r>
          <a:r>
            <a:rPr lang="en-GB"/>
            <a:t> see slightly lower transactions, indicating a leisure-oriented weekend customer base.</a:t>
          </a:r>
          <a:endParaRPr lang="en-US"/>
        </a:p>
      </dgm:t>
    </dgm:pt>
    <dgm:pt modelId="{0817EEFA-98FE-4525-BB95-A2DE779D4F52}" type="parTrans" cxnId="{64F8E81C-87D6-47BF-BC6B-9F1A08792084}">
      <dgm:prSet/>
      <dgm:spPr/>
      <dgm:t>
        <a:bodyPr/>
        <a:lstStyle/>
        <a:p>
          <a:endParaRPr lang="en-US"/>
        </a:p>
      </dgm:t>
    </dgm:pt>
    <dgm:pt modelId="{72284DEC-4622-4185-987C-5737716FEF27}" type="sibTrans" cxnId="{64F8E81C-87D6-47BF-BC6B-9F1A08792084}">
      <dgm:prSet/>
      <dgm:spPr/>
      <dgm:t>
        <a:bodyPr/>
        <a:lstStyle/>
        <a:p>
          <a:endParaRPr lang="en-US"/>
        </a:p>
      </dgm:t>
    </dgm:pt>
    <dgm:pt modelId="{7664C8A7-3FB6-440C-9FE8-D8667D9B7E4D}">
      <dgm:prSet/>
      <dgm:spPr/>
      <dgm:t>
        <a:bodyPr/>
        <a:lstStyle/>
        <a:p>
          <a:r>
            <a:rPr lang="en-GB" b="1"/>
            <a:t>All branches show consistent daily transaction patterns</a:t>
          </a:r>
          <a:r>
            <a:rPr lang="en-GB"/>
            <a:t>, with minor variations.</a:t>
          </a:r>
          <a:endParaRPr lang="en-US"/>
        </a:p>
      </dgm:t>
    </dgm:pt>
    <dgm:pt modelId="{A4306F92-763A-4C82-9DFF-B79849084334}" type="parTrans" cxnId="{9F39EE47-D63B-4B89-8231-5F6CC0C5510F}">
      <dgm:prSet/>
      <dgm:spPr/>
      <dgm:t>
        <a:bodyPr/>
        <a:lstStyle/>
        <a:p>
          <a:endParaRPr lang="en-US"/>
        </a:p>
      </dgm:t>
    </dgm:pt>
    <dgm:pt modelId="{69CC5D25-4B70-4583-878B-F33237BCAAE0}" type="sibTrans" cxnId="{9F39EE47-D63B-4B89-8231-5F6CC0C5510F}">
      <dgm:prSet/>
      <dgm:spPr/>
      <dgm:t>
        <a:bodyPr/>
        <a:lstStyle/>
        <a:p>
          <a:endParaRPr lang="en-US"/>
        </a:p>
      </dgm:t>
    </dgm:pt>
    <dgm:pt modelId="{242BB914-7CFF-445C-AB44-7AE5B1FC4E47}">
      <dgm:prSet/>
      <dgm:spPr/>
      <dgm:t>
        <a:bodyPr/>
        <a:lstStyle/>
        <a:p>
          <a:r>
            <a:rPr lang="en-GB" b="1"/>
            <a:t>Lower Manhattan</a:t>
          </a:r>
          <a:r>
            <a:rPr lang="en-GB"/>
            <a:t> maintains stable traffic across all days, including weekends.</a:t>
          </a:r>
          <a:endParaRPr lang="en-US"/>
        </a:p>
      </dgm:t>
    </dgm:pt>
    <dgm:pt modelId="{A0B2C9B2-0CC9-474E-BDF9-A8C2A4259FC5}" type="parTrans" cxnId="{5B9B7FA8-707A-476A-AD6B-80733F662720}">
      <dgm:prSet/>
      <dgm:spPr/>
      <dgm:t>
        <a:bodyPr/>
        <a:lstStyle/>
        <a:p>
          <a:endParaRPr lang="en-US"/>
        </a:p>
      </dgm:t>
    </dgm:pt>
    <dgm:pt modelId="{C7637F69-8CB6-4790-BB07-D3E825067194}" type="sibTrans" cxnId="{5B9B7FA8-707A-476A-AD6B-80733F662720}">
      <dgm:prSet/>
      <dgm:spPr/>
      <dgm:t>
        <a:bodyPr/>
        <a:lstStyle/>
        <a:p>
          <a:endParaRPr lang="en-US"/>
        </a:p>
      </dgm:t>
    </dgm:pt>
    <dgm:pt modelId="{04E7BB97-6491-4DA4-831E-FE5294782876}">
      <dgm:prSet/>
      <dgm:spPr/>
      <dgm:t>
        <a:bodyPr/>
        <a:lstStyle/>
        <a:p>
          <a:r>
            <a:rPr lang="en-GB"/>
            <a:t>Insights can guide </a:t>
          </a:r>
          <a:r>
            <a:rPr lang="en-GB" b="1"/>
            <a:t>staffing, inventory, and targeted promotions</a:t>
          </a:r>
          <a:r>
            <a:rPr lang="en-GB"/>
            <a:t> to maximize revenue.</a:t>
          </a:r>
          <a:endParaRPr lang="en-US"/>
        </a:p>
      </dgm:t>
    </dgm:pt>
    <dgm:pt modelId="{C8EFE696-730E-421A-8C20-3E427375C8DA}" type="parTrans" cxnId="{2A1CA722-A98A-4AEF-9C27-6C9586480F7C}">
      <dgm:prSet/>
      <dgm:spPr/>
      <dgm:t>
        <a:bodyPr/>
        <a:lstStyle/>
        <a:p>
          <a:endParaRPr lang="en-US"/>
        </a:p>
      </dgm:t>
    </dgm:pt>
    <dgm:pt modelId="{DE501CCF-3683-4364-8085-233333AD1CE1}" type="sibTrans" cxnId="{2A1CA722-A98A-4AEF-9C27-6C9586480F7C}">
      <dgm:prSet/>
      <dgm:spPr/>
      <dgm:t>
        <a:bodyPr/>
        <a:lstStyle/>
        <a:p>
          <a:endParaRPr lang="en-US"/>
        </a:p>
      </dgm:t>
    </dgm:pt>
    <dgm:pt modelId="{B304D435-8858-4023-A76B-A82384D3F0C0}" type="pres">
      <dgm:prSet presAssocID="{1451AC82-0400-48FA-98EE-35F3BD506E34}" presName="linear" presStyleCnt="0">
        <dgm:presLayoutVars>
          <dgm:animLvl val="lvl"/>
          <dgm:resizeHandles val="exact"/>
        </dgm:presLayoutVars>
      </dgm:prSet>
      <dgm:spPr/>
    </dgm:pt>
    <dgm:pt modelId="{B34BA56C-3CF5-42FF-B8EC-A988A77637F4}" type="pres">
      <dgm:prSet presAssocID="{B6B8F894-8851-4923-9D74-73135E4CA3B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4BCA1F0-702F-4896-81FE-3CEF3AD60991}" type="pres">
      <dgm:prSet presAssocID="{BC01AFF6-D677-4C3A-AE57-33AC04EDC63A}" presName="spacer" presStyleCnt="0"/>
      <dgm:spPr/>
    </dgm:pt>
    <dgm:pt modelId="{B6B9B774-B958-4F69-8157-0C1A7DD9EC06}" type="pres">
      <dgm:prSet presAssocID="{2923FF21-12B0-4CC0-88A4-F56CEA57505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49B7D53-BCA1-4DF9-8F3C-8277680D600C}" type="pres">
      <dgm:prSet presAssocID="{E8C1559C-7B1C-4D3E-9875-9BF02941F15F}" presName="spacer" presStyleCnt="0"/>
      <dgm:spPr/>
    </dgm:pt>
    <dgm:pt modelId="{0870D7E3-F165-4479-8D6D-C6424496314E}" type="pres">
      <dgm:prSet presAssocID="{835155CA-0EC0-48CB-B8C9-419B7B1B30A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2A1492D-0BDC-4946-BB51-0CABE47C8B3B}" type="pres">
      <dgm:prSet presAssocID="{72284DEC-4622-4185-987C-5737716FEF27}" presName="spacer" presStyleCnt="0"/>
      <dgm:spPr/>
    </dgm:pt>
    <dgm:pt modelId="{0137F01E-1907-41C2-B350-4043D9E4E619}" type="pres">
      <dgm:prSet presAssocID="{7664C8A7-3FB6-440C-9FE8-D8667D9B7E4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6168600-54E0-4FA8-A263-3E007BDC3F62}" type="pres">
      <dgm:prSet presAssocID="{69CC5D25-4B70-4583-878B-F33237BCAAE0}" presName="spacer" presStyleCnt="0"/>
      <dgm:spPr/>
    </dgm:pt>
    <dgm:pt modelId="{BD50E32D-D8B2-4AEA-BE71-47B88BA3D3D1}" type="pres">
      <dgm:prSet presAssocID="{242BB914-7CFF-445C-AB44-7AE5B1FC4E4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FF07304-0D5A-4D8A-ABB7-53D6F4F4E195}" type="pres">
      <dgm:prSet presAssocID="{C7637F69-8CB6-4790-BB07-D3E825067194}" presName="spacer" presStyleCnt="0"/>
      <dgm:spPr/>
    </dgm:pt>
    <dgm:pt modelId="{60BFD94E-7566-47D6-A592-9FF3070B0573}" type="pres">
      <dgm:prSet presAssocID="{04E7BB97-6491-4DA4-831E-FE529478287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7043A04-A627-4415-AD7F-3AFFF426C73A}" type="presOf" srcId="{7664C8A7-3FB6-440C-9FE8-D8667D9B7E4D}" destId="{0137F01E-1907-41C2-B350-4043D9E4E619}" srcOrd="0" destOrd="0" presId="urn:microsoft.com/office/officeart/2005/8/layout/vList2"/>
    <dgm:cxn modelId="{64F8E81C-87D6-47BF-BC6B-9F1A08792084}" srcId="{1451AC82-0400-48FA-98EE-35F3BD506E34}" destId="{835155CA-0EC0-48CB-B8C9-419B7B1B30A4}" srcOrd="2" destOrd="0" parTransId="{0817EEFA-98FE-4525-BB95-A2DE779D4F52}" sibTransId="{72284DEC-4622-4185-987C-5737716FEF27}"/>
    <dgm:cxn modelId="{2A1CA722-A98A-4AEF-9C27-6C9586480F7C}" srcId="{1451AC82-0400-48FA-98EE-35F3BD506E34}" destId="{04E7BB97-6491-4DA4-831E-FE5294782876}" srcOrd="5" destOrd="0" parTransId="{C8EFE696-730E-421A-8C20-3E427375C8DA}" sibTransId="{DE501CCF-3683-4364-8085-233333AD1CE1}"/>
    <dgm:cxn modelId="{78088444-4223-4B24-9F4C-CC6E0A0FB1F8}" type="presOf" srcId="{2923FF21-12B0-4CC0-88A4-F56CEA57505A}" destId="{B6B9B774-B958-4F69-8157-0C1A7DD9EC06}" srcOrd="0" destOrd="0" presId="urn:microsoft.com/office/officeart/2005/8/layout/vList2"/>
    <dgm:cxn modelId="{9F39EE47-D63B-4B89-8231-5F6CC0C5510F}" srcId="{1451AC82-0400-48FA-98EE-35F3BD506E34}" destId="{7664C8A7-3FB6-440C-9FE8-D8667D9B7E4D}" srcOrd="3" destOrd="0" parTransId="{A4306F92-763A-4C82-9DFF-B79849084334}" sibTransId="{69CC5D25-4B70-4583-878B-F33237BCAAE0}"/>
    <dgm:cxn modelId="{2B468348-1850-42B3-BE63-86A22DB098B5}" srcId="{1451AC82-0400-48FA-98EE-35F3BD506E34}" destId="{2923FF21-12B0-4CC0-88A4-F56CEA57505A}" srcOrd="1" destOrd="0" parTransId="{8A3FECDB-2CB3-404D-9B49-BF8C2BC802D5}" sibTransId="{E8C1559C-7B1C-4D3E-9875-9BF02941F15F}"/>
    <dgm:cxn modelId="{D9DD036B-00D4-433B-A59F-5E3E65CB5270}" type="presOf" srcId="{835155CA-0EC0-48CB-B8C9-419B7B1B30A4}" destId="{0870D7E3-F165-4479-8D6D-C6424496314E}" srcOrd="0" destOrd="0" presId="urn:microsoft.com/office/officeart/2005/8/layout/vList2"/>
    <dgm:cxn modelId="{987D3279-E9F4-45E3-A8E4-50E03A51B216}" srcId="{1451AC82-0400-48FA-98EE-35F3BD506E34}" destId="{B6B8F894-8851-4923-9D74-73135E4CA3B4}" srcOrd="0" destOrd="0" parTransId="{C7112FCF-A312-4C12-9BFF-674D51E8295C}" sibTransId="{BC01AFF6-D677-4C3A-AE57-33AC04EDC63A}"/>
    <dgm:cxn modelId="{C241467A-8494-44DB-908B-36132F8F19F1}" type="presOf" srcId="{B6B8F894-8851-4923-9D74-73135E4CA3B4}" destId="{B34BA56C-3CF5-42FF-B8EC-A988A77637F4}" srcOrd="0" destOrd="0" presId="urn:microsoft.com/office/officeart/2005/8/layout/vList2"/>
    <dgm:cxn modelId="{DB992C7B-427F-49A5-B438-8C9E1AC37CCE}" type="presOf" srcId="{1451AC82-0400-48FA-98EE-35F3BD506E34}" destId="{B304D435-8858-4023-A76B-A82384D3F0C0}" srcOrd="0" destOrd="0" presId="urn:microsoft.com/office/officeart/2005/8/layout/vList2"/>
    <dgm:cxn modelId="{5B9B7FA8-707A-476A-AD6B-80733F662720}" srcId="{1451AC82-0400-48FA-98EE-35F3BD506E34}" destId="{242BB914-7CFF-445C-AB44-7AE5B1FC4E47}" srcOrd="4" destOrd="0" parTransId="{A0B2C9B2-0CC9-474E-BDF9-A8C2A4259FC5}" sibTransId="{C7637F69-8CB6-4790-BB07-D3E825067194}"/>
    <dgm:cxn modelId="{0ED448AF-C438-4053-89EA-183B7F3DDCBB}" type="presOf" srcId="{242BB914-7CFF-445C-AB44-7AE5B1FC4E47}" destId="{BD50E32D-D8B2-4AEA-BE71-47B88BA3D3D1}" srcOrd="0" destOrd="0" presId="urn:microsoft.com/office/officeart/2005/8/layout/vList2"/>
    <dgm:cxn modelId="{A823F3B0-8A11-473A-94E7-61F285769804}" type="presOf" srcId="{04E7BB97-6491-4DA4-831E-FE5294782876}" destId="{60BFD94E-7566-47D6-A592-9FF3070B0573}" srcOrd="0" destOrd="0" presId="urn:microsoft.com/office/officeart/2005/8/layout/vList2"/>
    <dgm:cxn modelId="{E8BB5C0A-12FC-4A72-A594-AC65BDD52820}" type="presParOf" srcId="{B304D435-8858-4023-A76B-A82384D3F0C0}" destId="{B34BA56C-3CF5-42FF-B8EC-A988A77637F4}" srcOrd="0" destOrd="0" presId="urn:microsoft.com/office/officeart/2005/8/layout/vList2"/>
    <dgm:cxn modelId="{96F1BD78-30A6-4129-B569-363461189493}" type="presParOf" srcId="{B304D435-8858-4023-A76B-A82384D3F0C0}" destId="{D4BCA1F0-702F-4896-81FE-3CEF3AD60991}" srcOrd="1" destOrd="0" presId="urn:microsoft.com/office/officeart/2005/8/layout/vList2"/>
    <dgm:cxn modelId="{026462FA-497B-4DA4-8C2C-04BC2927CC24}" type="presParOf" srcId="{B304D435-8858-4023-A76B-A82384D3F0C0}" destId="{B6B9B774-B958-4F69-8157-0C1A7DD9EC06}" srcOrd="2" destOrd="0" presId="urn:microsoft.com/office/officeart/2005/8/layout/vList2"/>
    <dgm:cxn modelId="{AC703303-065E-4E00-9D68-C7FF9F9E4938}" type="presParOf" srcId="{B304D435-8858-4023-A76B-A82384D3F0C0}" destId="{149B7D53-BCA1-4DF9-8F3C-8277680D600C}" srcOrd="3" destOrd="0" presId="urn:microsoft.com/office/officeart/2005/8/layout/vList2"/>
    <dgm:cxn modelId="{78A72D6D-DFC3-4E5B-8E77-50C60B2D7D59}" type="presParOf" srcId="{B304D435-8858-4023-A76B-A82384D3F0C0}" destId="{0870D7E3-F165-4479-8D6D-C6424496314E}" srcOrd="4" destOrd="0" presId="urn:microsoft.com/office/officeart/2005/8/layout/vList2"/>
    <dgm:cxn modelId="{02A3487A-C442-4792-A012-251615CB15B6}" type="presParOf" srcId="{B304D435-8858-4023-A76B-A82384D3F0C0}" destId="{C2A1492D-0BDC-4946-BB51-0CABE47C8B3B}" srcOrd="5" destOrd="0" presId="urn:microsoft.com/office/officeart/2005/8/layout/vList2"/>
    <dgm:cxn modelId="{E4D53C5D-48EF-4081-88CD-67FFDC2B3559}" type="presParOf" srcId="{B304D435-8858-4023-A76B-A82384D3F0C0}" destId="{0137F01E-1907-41C2-B350-4043D9E4E619}" srcOrd="6" destOrd="0" presId="urn:microsoft.com/office/officeart/2005/8/layout/vList2"/>
    <dgm:cxn modelId="{1D9CD710-0F98-4751-960D-D99D3417EC06}" type="presParOf" srcId="{B304D435-8858-4023-A76B-A82384D3F0C0}" destId="{A6168600-54E0-4FA8-A263-3E007BDC3F62}" srcOrd="7" destOrd="0" presId="urn:microsoft.com/office/officeart/2005/8/layout/vList2"/>
    <dgm:cxn modelId="{FB5BB24F-6AC0-4061-A534-589FDC696584}" type="presParOf" srcId="{B304D435-8858-4023-A76B-A82384D3F0C0}" destId="{BD50E32D-D8B2-4AEA-BE71-47B88BA3D3D1}" srcOrd="8" destOrd="0" presId="urn:microsoft.com/office/officeart/2005/8/layout/vList2"/>
    <dgm:cxn modelId="{F57608C3-4BE9-4A32-94E1-B080B7D93304}" type="presParOf" srcId="{B304D435-8858-4023-A76B-A82384D3F0C0}" destId="{1FF07304-0D5A-4D8A-ABB7-53D6F4F4E195}" srcOrd="9" destOrd="0" presId="urn:microsoft.com/office/officeart/2005/8/layout/vList2"/>
    <dgm:cxn modelId="{5A5F8291-A855-4FD1-B178-C01FB2475B62}" type="presParOf" srcId="{B304D435-8858-4023-A76B-A82384D3F0C0}" destId="{60BFD94E-7566-47D6-A592-9FF3070B057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531EB2-B1C5-47E9-9B6B-2D64C24929C6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9B59F79-6348-4BF4-AC57-6F53BE55EA2F}">
      <dgm:prSet/>
      <dgm:spPr/>
      <dgm:t>
        <a:bodyPr/>
        <a:lstStyle/>
        <a:p>
          <a:r>
            <a:rPr lang="en-GB" b="1"/>
            <a:t>5. Key Business Insights</a:t>
          </a:r>
          <a:endParaRPr lang="en-US"/>
        </a:p>
      </dgm:t>
    </dgm:pt>
    <dgm:pt modelId="{68ACF69D-4B91-437D-B5FA-F8EB43D0F1F9}" type="parTrans" cxnId="{E751D5A0-38B5-466C-9AAA-66B9C8035BD8}">
      <dgm:prSet/>
      <dgm:spPr/>
      <dgm:t>
        <a:bodyPr/>
        <a:lstStyle/>
        <a:p>
          <a:endParaRPr lang="en-US"/>
        </a:p>
      </dgm:t>
    </dgm:pt>
    <dgm:pt modelId="{C4DDF929-CDBA-453F-BF7E-1B62AB777F7E}" type="sibTrans" cxnId="{E751D5A0-38B5-466C-9AAA-66B9C8035BD8}">
      <dgm:prSet/>
      <dgm:spPr/>
      <dgm:t>
        <a:bodyPr/>
        <a:lstStyle/>
        <a:p>
          <a:endParaRPr lang="en-US"/>
        </a:p>
      </dgm:t>
    </dgm:pt>
    <dgm:pt modelId="{175F962E-269A-4ADF-BB46-7D25221929A7}">
      <dgm:prSet/>
      <dgm:spPr/>
      <dgm:t>
        <a:bodyPr/>
        <a:lstStyle/>
        <a:p>
          <a:r>
            <a:rPr lang="en-GB" b="1"/>
            <a:t>Balanced branch performance:</a:t>
          </a:r>
          <a:r>
            <a:rPr lang="en-GB"/>
            <a:t> No underperforming store — all within 1–2% of each other.</a:t>
          </a:r>
          <a:endParaRPr lang="en-US"/>
        </a:p>
      </dgm:t>
    </dgm:pt>
    <dgm:pt modelId="{0671E5C3-76A6-451D-B2E2-6484D3FA0017}" type="parTrans" cxnId="{5EFAD90D-1A9E-42AF-BD27-AB837719095C}">
      <dgm:prSet/>
      <dgm:spPr/>
      <dgm:t>
        <a:bodyPr/>
        <a:lstStyle/>
        <a:p>
          <a:endParaRPr lang="en-US"/>
        </a:p>
      </dgm:t>
    </dgm:pt>
    <dgm:pt modelId="{0AEB03AE-F7FE-4EFF-B27A-43F4189B9E37}" type="sibTrans" cxnId="{5EFAD90D-1A9E-42AF-BD27-AB837719095C}">
      <dgm:prSet/>
      <dgm:spPr/>
      <dgm:t>
        <a:bodyPr/>
        <a:lstStyle/>
        <a:p>
          <a:endParaRPr lang="en-US"/>
        </a:p>
      </dgm:t>
    </dgm:pt>
    <dgm:pt modelId="{33C4168E-C430-4EAE-9AED-F2FDE09B7277}">
      <dgm:prSet/>
      <dgm:spPr/>
      <dgm:t>
        <a:bodyPr/>
        <a:lstStyle/>
        <a:p>
          <a:r>
            <a:rPr lang="en-GB" b="1"/>
            <a:t>Strong revenue momentum:</a:t>
          </a:r>
          <a:r>
            <a:rPr lang="en-GB"/>
            <a:t> From Feb dip to consistent growth till Jun — momentum can be leveraged for expansion or product launches.</a:t>
          </a:r>
          <a:endParaRPr lang="en-US"/>
        </a:p>
      </dgm:t>
    </dgm:pt>
    <dgm:pt modelId="{61F4B50E-DD1F-4302-AED0-951BA66E69DF}" type="parTrans" cxnId="{86276B04-20F7-4342-A0CB-B7D5FE419F57}">
      <dgm:prSet/>
      <dgm:spPr/>
      <dgm:t>
        <a:bodyPr/>
        <a:lstStyle/>
        <a:p>
          <a:endParaRPr lang="en-US"/>
        </a:p>
      </dgm:t>
    </dgm:pt>
    <dgm:pt modelId="{8D4C53BD-7606-49DC-B3E5-0CC918D88F95}" type="sibTrans" cxnId="{86276B04-20F7-4342-A0CB-B7D5FE419F57}">
      <dgm:prSet/>
      <dgm:spPr/>
      <dgm:t>
        <a:bodyPr/>
        <a:lstStyle/>
        <a:p>
          <a:endParaRPr lang="en-US"/>
        </a:p>
      </dgm:t>
    </dgm:pt>
    <dgm:pt modelId="{A6ECA74F-799F-4CA2-A30E-E9E2B9488698}">
      <dgm:prSet/>
      <dgm:spPr/>
      <dgm:t>
        <a:bodyPr/>
        <a:lstStyle/>
        <a:p>
          <a:r>
            <a:rPr lang="en-GB" b="1"/>
            <a:t>Seasonality:</a:t>
          </a:r>
          <a:r>
            <a:rPr lang="en-GB"/>
            <a:t> Growth begins March (likely linked to warmer weather or tourist activity).</a:t>
          </a:r>
          <a:endParaRPr lang="en-US"/>
        </a:p>
      </dgm:t>
    </dgm:pt>
    <dgm:pt modelId="{60DCDB31-0A87-43BC-878E-B3E3843C01CC}" type="parTrans" cxnId="{D627CCB7-5B62-4CD5-A94A-D016F06FA42A}">
      <dgm:prSet/>
      <dgm:spPr/>
      <dgm:t>
        <a:bodyPr/>
        <a:lstStyle/>
        <a:p>
          <a:endParaRPr lang="en-US"/>
        </a:p>
      </dgm:t>
    </dgm:pt>
    <dgm:pt modelId="{6B4933C7-B04C-4081-98E7-72C1E46051D9}" type="sibTrans" cxnId="{D627CCB7-5B62-4CD5-A94A-D016F06FA42A}">
      <dgm:prSet/>
      <dgm:spPr/>
      <dgm:t>
        <a:bodyPr/>
        <a:lstStyle/>
        <a:p>
          <a:endParaRPr lang="en-US"/>
        </a:p>
      </dgm:t>
    </dgm:pt>
    <dgm:pt modelId="{F77642AF-CBB1-4318-A7AD-8506678F5A74}">
      <dgm:prSet/>
      <dgm:spPr/>
      <dgm:t>
        <a:bodyPr/>
        <a:lstStyle/>
        <a:p>
          <a:r>
            <a:rPr lang="en-GB" b="1"/>
            <a:t>Potential to benchmark:</a:t>
          </a:r>
          <a:r>
            <a:rPr lang="en-GB"/>
            <a:t> Hell’s Kitchen may serve as the performance benchmark for best practices.</a:t>
          </a:r>
          <a:endParaRPr lang="en-US"/>
        </a:p>
      </dgm:t>
    </dgm:pt>
    <dgm:pt modelId="{9375DA12-EA1F-4067-B874-89E432AC0222}" type="parTrans" cxnId="{4285A48D-C2EF-49E9-9048-62956EB3C1D1}">
      <dgm:prSet/>
      <dgm:spPr/>
      <dgm:t>
        <a:bodyPr/>
        <a:lstStyle/>
        <a:p>
          <a:endParaRPr lang="en-US"/>
        </a:p>
      </dgm:t>
    </dgm:pt>
    <dgm:pt modelId="{8DC2FA25-7D80-4BA8-90A6-9F81928078AF}" type="sibTrans" cxnId="{4285A48D-C2EF-49E9-9048-62956EB3C1D1}">
      <dgm:prSet/>
      <dgm:spPr/>
      <dgm:t>
        <a:bodyPr/>
        <a:lstStyle/>
        <a:p>
          <a:endParaRPr lang="en-US"/>
        </a:p>
      </dgm:t>
    </dgm:pt>
    <dgm:pt modelId="{504AD501-5FB7-4F0F-A03C-F6B3087F70B4}" type="pres">
      <dgm:prSet presAssocID="{4F531EB2-B1C5-47E9-9B6B-2D64C24929C6}" presName="Name0" presStyleCnt="0">
        <dgm:presLayoutVars>
          <dgm:dir/>
          <dgm:animLvl val="lvl"/>
          <dgm:resizeHandles val="exact"/>
        </dgm:presLayoutVars>
      </dgm:prSet>
      <dgm:spPr/>
    </dgm:pt>
    <dgm:pt modelId="{046B0442-9152-4FE4-BA5A-C0D7E968360F}" type="pres">
      <dgm:prSet presAssocID="{F77642AF-CBB1-4318-A7AD-8506678F5A74}" presName="boxAndChildren" presStyleCnt="0"/>
      <dgm:spPr/>
    </dgm:pt>
    <dgm:pt modelId="{B3F54060-1655-4A9B-9C33-37446C656A94}" type="pres">
      <dgm:prSet presAssocID="{F77642AF-CBB1-4318-A7AD-8506678F5A74}" presName="parentTextBox" presStyleLbl="node1" presStyleIdx="0" presStyleCnt="5"/>
      <dgm:spPr/>
    </dgm:pt>
    <dgm:pt modelId="{9783CCFF-D39A-41E8-B3F4-C40FB5AB202F}" type="pres">
      <dgm:prSet presAssocID="{6B4933C7-B04C-4081-98E7-72C1E46051D9}" presName="sp" presStyleCnt="0"/>
      <dgm:spPr/>
    </dgm:pt>
    <dgm:pt modelId="{B6257F21-8F74-4A41-AD9C-85E80413D600}" type="pres">
      <dgm:prSet presAssocID="{A6ECA74F-799F-4CA2-A30E-E9E2B9488698}" presName="arrowAndChildren" presStyleCnt="0"/>
      <dgm:spPr/>
    </dgm:pt>
    <dgm:pt modelId="{F22CA860-9871-4504-B626-F63E616B4368}" type="pres">
      <dgm:prSet presAssocID="{A6ECA74F-799F-4CA2-A30E-E9E2B9488698}" presName="parentTextArrow" presStyleLbl="node1" presStyleIdx="1" presStyleCnt="5"/>
      <dgm:spPr/>
    </dgm:pt>
    <dgm:pt modelId="{2008C193-FB88-420F-B6D7-9ACBB6F8075A}" type="pres">
      <dgm:prSet presAssocID="{8D4C53BD-7606-49DC-B3E5-0CC918D88F95}" presName="sp" presStyleCnt="0"/>
      <dgm:spPr/>
    </dgm:pt>
    <dgm:pt modelId="{7A5B121C-A163-4F45-89F7-F52642FCA538}" type="pres">
      <dgm:prSet presAssocID="{33C4168E-C430-4EAE-9AED-F2FDE09B7277}" presName="arrowAndChildren" presStyleCnt="0"/>
      <dgm:spPr/>
    </dgm:pt>
    <dgm:pt modelId="{BC9A4A15-5C34-4A65-A410-A50FADF344B0}" type="pres">
      <dgm:prSet presAssocID="{33C4168E-C430-4EAE-9AED-F2FDE09B7277}" presName="parentTextArrow" presStyleLbl="node1" presStyleIdx="2" presStyleCnt="5"/>
      <dgm:spPr/>
    </dgm:pt>
    <dgm:pt modelId="{4812F5F2-AE9D-4A87-BD3E-D93B875ADA65}" type="pres">
      <dgm:prSet presAssocID="{0AEB03AE-F7FE-4EFF-B27A-43F4189B9E37}" presName="sp" presStyleCnt="0"/>
      <dgm:spPr/>
    </dgm:pt>
    <dgm:pt modelId="{59973C17-D6D5-48CA-BEE0-D79E87F0A79A}" type="pres">
      <dgm:prSet presAssocID="{175F962E-269A-4ADF-BB46-7D25221929A7}" presName="arrowAndChildren" presStyleCnt="0"/>
      <dgm:spPr/>
    </dgm:pt>
    <dgm:pt modelId="{BB91100E-62AC-4423-8C57-9CEEAEAF8128}" type="pres">
      <dgm:prSet presAssocID="{175F962E-269A-4ADF-BB46-7D25221929A7}" presName="parentTextArrow" presStyleLbl="node1" presStyleIdx="3" presStyleCnt="5"/>
      <dgm:spPr/>
    </dgm:pt>
    <dgm:pt modelId="{1A9EE57F-AB43-4E04-9544-0D1688968385}" type="pres">
      <dgm:prSet presAssocID="{C4DDF929-CDBA-453F-BF7E-1B62AB777F7E}" presName="sp" presStyleCnt="0"/>
      <dgm:spPr/>
    </dgm:pt>
    <dgm:pt modelId="{6D025134-0E2F-4112-844E-4F6BC8612FD3}" type="pres">
      <dgm:prSet presAssocID="{09B59F79-6348-4BF4-AC57-6F53BE55EA2F}" presName="arrowAndChildren" presStyleCnt="0"/>
      <dgm:spPr/>
    </dgm:pt>
    <dgm:pt modelId="{07BBF3EC-88E7-447F-8F86-47BDB6958FBB}" type="pres">
      <dgm:prSet presAssocID="{09B59F79-6348-4BF4-AC57-6F53BE55EA2F}" presName="parentTextArrow" presStyleLbl="node1" presStyleIdx="4" presStyleCnt="5"/>
      <dgm:spPr/>
    </dgm:pt>
  </dgm:ptLst>
  <dgm:cxnLst>
    <dgm:cxn modelId="{86276B04-20F7-4342-A0CB-B7D5FE419F57}" srcId="{4F531EB2-B1C5-47E9-9B6B-2D64C24929C6}" destId="{33C4168E-C430-4EAE-9AED-F2FDE09B7277}" srcOrd="2" destOrd="0" parTransId="{61F4B50E-DD1F-4302-AED0-951BA66E69DF}" sibTransId="{8D4C53BD-7606-49DC-B3E5-0CC918D88F95}"/>
    <dgm:cxn modelId="{5EFAD90D-1A9E-42AF-BD27-AB837719095C}" srcId="{4F531EB2-B1C5-47E9-9B6B-2D64C24929C6}" destId="{175F962E-269A-4ADF-BB46-7D25221929A7}" srcOrd="1" destOrd="0" parTransId="{0671E5C3-76A6-451D-B2E2-6484D3FA0017}" sibTransId="{0AEB03AE-F7FE-4EFF-B27A-43F4189B9E37}"/>
    <dgm:cxn modelId="{AD978328-8927-432F-9AC1-3303C53555A4}" type="presOf" srcId="{33C4168E-C430-4EAE-9AED-F2FDE09B7277}" destId="{BC9A4A15-5C34-4A65-A410-A50FADF344B0}" srcOrd="0" destOrd="0" presId="urn:microsoft.com/office/officeart/2005/8/layout/process4"/>
    <dgm:cxn modelId="{EB021E51-5206-4763-8C99-5E0B4D72BF57}" type="presOf" srcId="{175F962E-269A-4ADF-BB46-7D25221929A7}" destId="{BB91100E-62AC-4423-8C57-9CEEAEAF8128}" srcOrd="0" destOrd="0" presId="urn:microsoft.com/office/officeart/2005/8/layout/process4"/>
    <dgm:cxn modelId="{4285A48D-C2EF-49E9-9048-62956EB3C1D1}" srcId="{4F531EB2-B1C5-47E9-9B6B-2D64C24929C6}" destId="{F77642AF-CBB1-4318-A7AD-8506678F5A74}" srcOrd="4" destOrd="0" parTransId="{9375DA12-EA1F-4067-B874-89E432AC0222}" sibTransId="{8DC2FA25-7D80-4BA8-90A6-9F81928078AF}"/>
    <dgm:cxn modelId="{59F8D596-6A39-4209-AD5B-B59D6E76E08B}" type="presOf" srcId="{F77642AF-CBB1-4318-A7AD-8506678F5A74}" destId="{B3F54060-1655-4A9B-9C33-37446C656A94}" srcOrd="0" destOrd="0" presId="urn:microsoft.com/office/officeart/2005/8/layout/process4"/>
    <dgm:cxn modelId="{E751D5A0-38B5-466C-9AAA-66B9C8035BD8}" srcId="{4F531EB2-B1C5-47E9-9B6B-2D64C24929C6}" destId="{09B59F79-6348-4BF4-AC57-6F53BE55EA2F}" srcOrd="0" destOrd="0" parTransId="{68ACF69D-4B91-437D-B5FA-F8EB43D0F1F9}" sibTransId="{C4DDF929-CDBA-453F-BF7E-1B62AB777F7E}"/>
    <dgm:cxn modelId="{52C97CAA-6D82-419B-A8F7-7AD97E4219CA}" type="presOf" srcId="{A6ECA74F-799F-4CA2-A30E-E9E2B9488698}" destId="{F22CA860-9871-4504-B626-F63E616B4368}" srcOrd="0" destOrd="0" presId="urn:microsoft.com/office/officeart/2005/8/layout/process4"/>
    <dgm:cxn modelId="{640F83AE-91E5-46F6-8972-173FE7CB8180}" type="presOf" srcId="{4F531EB2-B1C5-47E9-9B6B-2D64C24929C6}" destId="{504AD501-5FB7-4F0F-A03C-F6B3087F70B4}" srcOrd="0" destOrd="0" presId="urn:microsoft.com/office/officeart/2005/8/layout/process4"/>
    <dgm:cxn modelId="{D627CCB7-5B62-4CD5-A94A-D016F06FA42A}" srcId="{4F531EB2-B1C5-47E9-9B6B-2D64C24929C6}" destId="{A6ECA74F-799F-4CA2-A30E-E9E2B9488698}" srcOrd="3" destOrd="0" parTransId="{60DCDB31-0A87-43BC-878E-B3E3843C01CC}" sibTransId="{6B4933C7-B04C-4081-98E7-72C1E46051D9}"/>
    <dgm:cxn modelId="{F66872F4-8A40-40EE-ACA6-0A0BB74F4A9D}" type="presOf" srcId="{09B59F79-6348-4BF4-AC57-6F53BE55EA2F}" destId="{07BBF3EC-88E7-447F-8F86-47BDB6958FBB}" srcOrd="0" destOrd="0" presId="urn:microsoft.com/office/officeart/2005/8/layout/process4"/>
    <dgm:cxn modelId="{B771CC7F-EE23-49EA-98A3-548EC77D3718}" type="presParOf" srcId="{504AD501-5FB7-4F0F-A03C-F6B3087F70B4}" destId="{046B0442-9152-4FE4-BA5A-C0D7E968360F}" srcOrd="0" destOrd="0" presId="urn:microsoft.com/office/officeart/2005/8/layout/process4"/>
    <dgm:cxn modelId="{EA133DAB-F7B8-4BE7-AEDB-BDE4864C253B}" type="presParOf" srcId="{046B0442-9152-4FE4-BA5A-C0D7E968360F}" destId="{B3F54060-1655-4A9B-9C33-37446C656A94}" srcOrd="0" destOrd="0" presId="urn:microsoft.com/office/officeart/2005/8/layout/process4"/>
    <dgm:cxn modelId="{AA88A6A5-CF87-490B-9FD3-7E773553706B}" type="presParOf" srcId="{504AD501-5FB7-4F0F-A03C-F6B3087F70B4}" destId="{9783CCFF-D39A-41E8-B3F4-C40FB5AB202F}" srcOrd="1" destOrd="0" presId="urn:microsoft.com/office/officeart/2005/8/layout/process4"/>
    <dgm:cxn modelId="{306F7300-1D50-4237-9FD7-1955491CD262}" type="presParOf" srcId="{504AD501-5FB7-4F0F-A03C-F6B3087F70B4}" destId="{B6257F21-8F74-4A41-AD9C-85E80413D600}" srcOrd="2" destOrd="0" presId="urn:microsoft.com/office/officeart/2005/8/layout/process4"/>
    <dgm:cxn modelId="{88C4E44F-FB29-4F3F-8003-D5BCA6AC97DC}" type="presParOf" srcId="{B6257F21-8F74-4A41-AD9C-85E80413D600}" destId="{F22CA860-9871-4504-B626-F63E616B4368}" srcOrd="0" destOrd="0" presId="urn:microsoft.com/office/officeart/2005/8/layout/process4"/>
    <dgm:cxn modelId="{F2DB34E7-C706-4D02-BFF6-E4F4931B8AA3}" type="presParOf" srcId="{504AD501-5FB7-4F0F-A03C-F6B3087F70B4}" destId="{2008C193-FB88-420F-B6D7-9ACBB6F8075A}" srcOrd="3" destOrd="0" presId="urn:microsoft.com/office/officeart/2005/8/layout/process4"/>
    <dgm:cxn modelId="{D76EE53D-64D2-4FA9-9B6D-108E63382FC6}" type="presParOf" srcId="{504AD501-5FB7-4F0F-A03C-F6B3087F70B4}" destId="{7A5B121C-A163-4F45-89F7-F52642FCA538}" srcOrd="4" destOrd="0" presId="urn:microsoft.com/office/officeart/2005/8/layout/process4"/>
    <dgm:cxn modelId="{936DBA18-C110-4967-8D00-355EA0909053}" type="presParOf" srcId="{7A5B121C-A163-4F45-89F7-F52642FCA538}" destId="{BC9A4A15-5C34-4A65-A410-A50FADF344B0}" srcOrd="0" destOrd="0" presId="urn:microsoft.com/office/officeart/2005/8/layout/process4"/>
    <dgm:cxn modelId="{DD67A7A0-9E2A-43F0-AB7A-9E600ED6654A}" type="presParOf" srcId="{504AD501-5FB7-4F0F-A03C-F6B3087F70B4}" destId="{4812F5F2-AE9D-4A87-BD3E-D93B875ADA65}" srcOrd="5" destOrd="0" presId="urn:microsoft.com/office/officeart/2005/8/layout/process4"/>
    <dgm:cxn modelId="{24D0DDA0-8719-4856-A74F-FD2F63A09392}" type="presParOf" srcId="{504AD501-5FB7-4F0F-A03C-F6B3087F70B4}" destId="{59973C17-D6D5-48CA-BEE0-D79E87F0A79A}" srcOrd="6" destOrd="0" presId="urn:microsoft.com/office/officeart/2005/8/layout/process4"/>
    <dgm:cxn modelId="{7D166F85-F87C-449E-8AE3-9A92241AE8F1}" type="presParOf" srcId="{59973C17-D6D5-48CA-BEE0-D79E87F0A79A}" destId="{BB91100E-62AC-4423-8C57-9CEEAEAF8128}" srcOrd="0" destOrd="0" presId="urn:microsoft.com/office/officeart/2005/8/layout/process4"/>
    <dgm:cxn modelId="{FBA8DA21-8934-49C9-9324-FEA076F6B768}" type="presParOf" srcId="{504AD501-5FB7-4F0F-A03C-F6B3087F70B4}" destId="{1A9EE57F-AB43-4E04-9544-0D1688968385}" srcOrd="7" destOrd="0" presId="urn:microsoft.com/office/officeart/2005/8/layout/process4"/>
    <dgm:cxn modelId="{530C7C4E-BC49-4628-BB5F-04611C5D1839}" type="presParOf" srcId="{504AD501-5FB7-4F0F-A03C-F6B3087F70B4}" destId="{6D025134-0E2F-4112-844E-4F6BC8612FD3}" srcOrd="8" destOrd="0" presId="urn:microsoft.com/office/officeart/2005/8/layout/process4"/>
    <dgm:cxn modelId="{85F13270-E9E5-4243-B748-9321334F899A}" type="presParOf" srcId="{6D025134-0E2F-4112-844E-4F6BC8612FD3}" destId="{07BBF3EC-88E7-447F-8F86-47BDB6958FB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2F032D-5F84-4097-8EB9-D5576D35386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59D179-B729-46DD-B921-2F174492A603}">
      <dgm:prSet/>
      <dgm:spPr/>
      <dgm:t>
        <a:bodyPr/>
        <a:lstStyle/>
        <a:p>
          <a:r>
            <a:rPr lang="en-GB"/>
            <a:t>Coffee is the main revenue driver, contributing nearly </a:t>
          </a:r>
          <a:r>
            <a:rPr lang="en-GB" b="1"/>
            <a:t>40%</a:t>
          </a:r>
          <a:r>
            <a:rPr lang="en-GB"/>
            <a:t> of total sales.</a:t>
          </a:r>
          <a:endParaRPr lang="en-US"/>
        </a:p>
      </dgm:t>
    </dgm:pt>
    <dgm:pt modelId="{E3067956-F20B-414B-8FCC-8858EDFCFA2C}" type="parTrans" cxnId="{74AF7808-6B0C-4574-A07E-45EA53056EB7}">
      <dgm:prSet/>
      <dgm:spPr/>
      <dgm:t>
        <a:bodyPr/>
        <a:lstStyle/>
        <a:p>
          <a:endParaRPr lang="en-US"/>
        </a:p>
      </dgm:t>
    </dgm:pt>
    <dgm:pt modelId="{850525F0-92B4-4B77-A88B-55D5E31C7715}" type="sibTrans" cxnId="{74AF7808-6B0C-4574-A07E-45EA53056EB7}">
      <dgm:prSet/>
      <dgm:spPr/>
      <dgm:t>
        <a:bodyPr/>
        <a:lstStyle/>
        <a:p>
          <a:endParaRPr lang="en-US"/>
        </a:p>
      </dgm:t>
    </dgm:pt>
    <dgm:pt modelId="{C379057F-A8D8-4CBE-8BF6-35A3D26C5C3B}">
      <dgm:prSet/>
      <dgm:spPr/>
      <dgm:t>
        <a:bodyPr/>
        <a:lstStyle/>
        <a:p>
          <a:r>
            <a:rPr lang="en-GB"/>
            <a:t>Tea provides strong, steady growth and complements coffee performance.</a:t>
          </a:r>
          <a:endParaRPr lang="en-US"/>
        </a:p>
      </dgm:t>
    </dgm:pt>
    <dgm:pt modelId="{60133346-2370-42C3-BE56-AA379A24FBB0}" type="parTrans" cxnId="{14D8ECF7-073F-4247-A7A1-3CEFF1DC5ACB}">
      <dgm:prSet/>
      <dgm:spPr/>
      <dgm:t>
        <a:bodyPr/>
        <a:lstStyle/>
        <a:p>
          <a:endParaRPr lang="en-US"/>
        </a:p>
      </dgm:t>
    </dgm:pt>
    <dgm:pt modelId="{D8CD4D80-8AE3-4E85-A435-E9AD6B6CBC83}" type="sibTrans" cxnId="{14D8ECF7-073F-4247-A7A1-3CEFF1DC5ACB}">
      <dgm:prSet/>
      <dgm:spPr/>
      <dgm:t>
        <a:bodyPr/>
        <a:lstStyle/>
        <a:p>
          <a:endParaRPr lang="en-US"/>
        </a:p>
      </dgm:t>
    </dgm:pt>
    <dgm:pt modelId="{5DA9E45A-ACFA-4328-A2C5-06E003E563D3}">
      <dgm:prSet/>
      <dgm:spPr/>
      <dgm:t>
        <a:bodyPr/>
        <a:lstStyle/>
        <a:p>
          <a:r>
            <a:rPr lang="en-GB"/>
            <a:t>Bakery and Drinking Chocolate categories have </a:t>
          </a:r>
          <a:r>
            <a:rPr lang="en-GB" b="1"/>
            <a:t>doubled sales</a:t>
          </a:r>
          <a:r>
            <a:rPr lang="en-GB"/>
            <a:t>, showing strong upsell potential.</a:t>
          </a:r>
          <a:endParaRPr lang="en-US"/>
        </a:p>
      </dgm:t>
    </dgm:pt>
    <dgm:pt modelId="{BEE05A50-67AB-418A-8BB0-D6B62E2C1540}" type="parTrans" cxnId="{89076910-8902-4965-8EE1-C11112D26FFB}">
      <dgm:prSet/>
      <dgm:spPr/>
      <dgm:t>
        <a:bodyPr/>
        <a:lstStyle/>
        <a:p>
          <a:endParaRPr lang="en-US"/>
        </a:p>
      </dgm:t>
    </dgm:pt>
    <dgm:pt modelId="{19135C4C-889F-4895-82F2-E010EDEA005E}" type="sibTrans" cxnId="{89076910-8902-4965-8EE1-C11112D26FFB}">
      <dgm:prSet/>
      <dgm:spPr/>
      <dgm:t>
        <a:bodyPr/>
        <a:lstStyle/>
        <a:p>
          <a:endParaRPr lang="en-US"/>
        </a:p>
      </dgm:t>
    </dgm:pt>
    <dgm:pt modelId="{3A06EC12-F104-4DDC-BF3B-62416B78948C}">
      <dgm:prSet/>
      <dgm:spPr/>
      <dgm:t>
        <a:bodyPr/>
        <a:lstStyle/>
        <a:p>
          <a:r>
            <a:rPr lang="en-GB"/>
            <a:t>Total revenue grew </a:t>
          </a:r>
          <a:r>
            <a:rPr lang="en-GB" b="1"/>
            <a:t>over 100%</a:t>
          </a:r>
          <a:r>
            <a:rPr lang="en-GB"/>
            <a:t> from January to June, indicating strong momentum.</a:t>
          </a:r>
          <a:endParaRPr lang="en-US"/>
        </a:p>
      </dgm:t>
    </dgm:pt>
    <dgm:pt modelId="{2E3CBE7D-12AB-4136-AF67-F0CD97313511}" type="parTrans" cxnId="{CB975D9B-4D3D-4502-ACF8-AE01DFBD3838}">
      <dgm:prSet/>
      <dgm:spPr/>
      <dgm:t>
        <a:bodyPr/>
        <a:lstStyle/>
        <a:p>
          <a:endParaRPr lang="en-US"/>
        </a:p>
      </dgm:t>
    </dgm:pt>
    <dgm:pt modelId="{11FEDB16-CB1E-4FA3-A065-8CEBAD911761}" type="sibTrans" cxnId="{CB975D9B-4D3D-4502-ACF8-AE01DFBD3838}">
      <dgm:prSet/>
      <dgm:spPr/>
      <dgm:t>
        <a:bodyPr/>
        <a:lstStyle/>
        <a:p>
          <a:endParaRPr lang="en-US"/>
        </a:p>
      </dgm:t>
    </dgm:pt>
    <dgm:pt modelId="{F0330252-185A-42AD-8D7D-434ACF9DBA2A}">
      <dgm:prSet/>
      <dgm:spPr/>
      <dgm:t>
        <a:bodyPr/>
        <a:lstStyle/>
        <a:p>
          <a:r>
            <a:rPr lang="en-GB"/>
            <a:t>Smaller categories offer </a:t>
          </a:r>
          <a:r>
            <a:rPr lang="en-GB" b="1"/>
            <a:t>cross-sell and upsell opportunities</a:t>
          </a:r>
          <a:r>
            <a:rPr lang="en-GB"/>
            <a:t> to boost overall revenue.</a:t>
          </a:r>
          <a:endParaRPr lang="en-US"/>
        </a:p>
      </dgm:t>
    </dgm:pt>
    <dgm:pt modelId="{23069927-B3DF-4AF8-BB43-27D9905ABB5C}" type="parTrans" cxnId="{E989D2E7-F0E9-4D1B-9B33-8CB40E218F0F}">
      <dgm:prSet/>
      <dgm:spPr/>
      <dgm:t>
        <a:bodyPr/>
        <a:lstStyle/>
        <a:p>
          <a:endParaRPr lang="en-US"/>
        </a:p>
      </dgm:t>
    </dgm:pt>
    <dgm:pt modelId="{EB007A2F-8DC2-489F-9AD0-B56807AB8382}" type="sibTrans" cxnId="{E989D2E7-F0E9-4D1B-9B33-8CB40E218F0F}">
      <dgm:prSet/>
      <dgm:spPr/>
      <dgm:t>
        <a:bodyPr/>
        <a:lstStyle/>
        <a:p>
          <a:endParaRPr lang="en-US"/>
        </a:p>
      </dgm:t>
    </dgm:pt>
    <dgm:pt modelId="{E1FAFB2A-B8B0-4E99-B5B1-CC095D8767C2}" type="pres">
      <dgm:prSet presAssocID="{CA2F032D-5F84-4097-8EB9-D5576D353861}" presName="linear" presStyleCnt="0">
        <dgm:presLayoutVars>
          <dgm:animLvl val="lvl"/>
          <dgm:resizeHandles val="exact"/>
        </dgm:presLayoutVars>
      </dgm:prSet>
      <dgm:spPr/>
    </dgm:pt>
    <dgm:pt modelId="{955B0D33-7EAD-4CBB-898F-CF29631D0AC8}" type="pres">
      <dgm:prSet presAssocID="{1359D179-B729-46DD-B921-2F174492A60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16126A6-863D-407E-9788-E16B886BEB24}" type="pres">
      <dgm:prSet presAssocID="{850525F0-92B4-4B77-A88B-55D5E31C7715}" presName="spacer" presStyleCnt="0"/>
      <dgm:spPr/>
    </dgm:pt>
    <dgm:pt modelId="{C771A307-F5E8-4B35-9270-7B30C351B0A4}" type="pres">
      <dgm:prSet presAssocID="{C379057F-A8D8-4CBE-8BF6-35A3D26C5C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AE6E195-A67D-4D71-BD6D-1D92D2F54723}" type="pres">
      <dgm:prSet presAssocID="{D8CD4D80-8AE3-4E85-A435-E9AD6B6CBC83}" presName="spacer" presStyleCnt="0"/>
      <dgm:spPr/>
    </dgm:pt>
    <dgm:pt modelId="{242749B0-124A-4D7B-A1C9-27D1620028FA}" type="pres">
      <dgm:prSet presAssocID="{5DA9E45A-ACFA-4328-A2C5-06E003E563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682C411-40BA-4336-89BB-06E06196F285}" type="pres">
      <dgm:prSet presAssocID="{19135C4C-889F-4895-82F2-E010EDEA005E}" presName="spacer" presStyleCnt="0"/>
      <dgm:spPr/>
    </dgm:pt>
    <dgm:pt modelId="{BA423137-3F3A-467B-A7F1-1C02300CCE9A}" type="pres">
      <dgm:prSet presAssocID="{3A06EC12-F104-4DDC-BF3B-62416B78948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B92222-C09C-4109-8579-0CDFEA28ABF2}" type="pres">
      <dgm:prSet presAssocID="{11FEDB16-CB1E-4FA3-A065-8CEBAD911761}" presName="spacer" presStyleCnt="0"/>
      <dgm:spPr/>
    </dgm:pt>
    <dgm:pt modelId="{FA6394C7-4BF3-4CD2-BA85-A965937F2B66}" type="pres">
      <dgm:prSet presAssocID="{F0330252-185A-42AD-8D7D-434ACF9DBA2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AF7808-6B0C-4574-A07E-45EA53056EB7}" srcId="{CA2F032D-5F84-4097-8EB9-D5576D353861}" destId="{1359D179-B729-46DD-B921-2F174492A603}" srcOrd="0" destOrd="0" parTransId="{E3067956-F20B-414B-8FCC-8858EDFCFA2C}" sibTransId="{850525F0-92B4-4B77-A88B-55D5E31C7715}"/>
    <dgm:cxn modelId="{89076910-8902-4965-8EE1-C11112D26FFB}" srcId="{CA2F032D-5F84-4097-8EB9-D5576D353861}" destId="{5DA9E45A-ACFA-4328-A2C5-06E003E563D3}" srcOrd="2" destOrd="0" parTransId="{BEE05A50-67AB-418A-8BB0-D6B62E2C1540}" sibTransId="{19135C4C-889F-4895-82F2-E010EDEA005E}"/>
    <dgm:cxn modelId="{CBB1442B-0288-468D-B2C1-F739319B630B}" type="presOf" srcId="{1359D179-B729-46DD-B921-2F174492A603}" destId="{955B0D33-7EAD-4CBB-898F-CF29631D0AC8}" srcOrd="0" destOrd="0" presId="urn:microsoft.com/office/officeart/2005/8/layout/vList2"/>
    <dgm:cxn modelId="{2091906B-CF6D-442B-AE7F-E006CDB8DB3B}" type="presOf" srcId="{3A06EC12-F104-4DDC-BF3B-62416B78948C}" destId="{BA423137-3F3A-467B-A7F1-1C02300CCE9A}" srcOrd="0" destOrd="0" presId="urn:microsoft.com/office/officeart/2005/8/layout/vList2"/>
    <dgm:cxn modelId="{2C74AE80-503B-45FB-B590-065D995485D0}" type="presOf" srcId="{F0330252-185A-42AD-8D7D-434ACF9DBA2A}" destId="{FA6394C7-4BF3-4CD2-BA85-A965937F2B66}" srcOrd="0" destOrd="0" presId="urn:microsoft.com/office/officeart/2005/8/layout/vList2"/>
    <dgm:cxn modelId="{4CB88690-4657-4CCC-B0D7-DBB527013376}" type="presOf" srcId="{CA2F032D-5F84-4097-8EB9-D5576D353861}" destId="{E1FAFB2A-B8B0-4E99-B5B1-CC095D8767C2}" srcOrd="0" destOrd="0" presId="urn:microsoft.com/office/officeart/2005/8/layout/vList2"/>
    <dgm:cxn modelId="{C30DE796-A933-4F11-97F2-A1E7E269877D}" type="presOf" srcId="{5DA9E45A-ACFA-4328-A2C5-06E003E563D3}" destId="{242749B0-124A-4D7B-A1C9-27D1620028FA}" srcOrd="0" destOrd="0" presId="urn:microsoft.com/office/officeart/2005/8/layout/vList2"/>
    <dgm:cxn modelId="{CB975D9B-4D3D-4502-ACF8-AE01DFBD3838}" srcId="{CA2F032D-5F84-4097-8EB9-D5576D353861}" destId="{3A06EC12-F104-4DDC-BF3B-62416B78948C}" srcOrd="3" destOrd="0" parTransId="{2E3CBE7D-12AB-4136-AF67-F0CD97313511}" sibTransId="{11FEDB16-CB1E-4FA3-A065-8CEBAD911761}"/>
    <dgm:cxn modelId="{B4F149B1-64CB-4FF9-9C26-9E266A6476AB}" type="presOf" srcId="{C379057F-A8D8-4CBE-8BF6-35A3D26C5C3B}" destId="{C771A307-F5E8-4B35-9270-7B30C351B0A4}" srcOrd="0" destOrd="0" presId="urn:microsoft.com/office/officeart/2005/8/layout/vList2"/>
    <dgm:cxn modelId="{E989D2E7-F0E9-4D1B-9B33-8CB40E218F0F}" srcId="{CA2F032D-5F84-4097-8EB9-D5576D353861}" destId="{F0330252-185A-42AD-8D7D-434ACF9DBA2A}" srcOrd="4" destOrd="0" parTransId="{23069927-B3DF-4AF8-BB43-27D9905ABB5C}" sibTransId="{EB007A2F-8DC2-489F-9AD0-B56807AB8382}"/>
    <dgm:cxn modelId="{14D8ECF7-073F-4247-A7A1-3CEFF1DC5ACB}" srcId="{CA2F032D-5F84-4097-8EB9-D5576D353861}" destId="{C379057F-A8D8-4CBE-8BF6-35A3D26C5C3B}" srcOrd="1" destOrd="0" parTransId="{60133346-2370-42C3-BE56-AA379A24FBB0}" sibTransId="{D8CD4D80-8AE3-4E85-A435-E9AD6B6CBC83}"/>
    <dgm:cxn modelId="{78F18D5E-C0F4-4053-BE8C-1F7997FAD67D}" type="presParOf" srcId="{E1FAFB2A-B8B0-4E99-B5B1-CC095D8767C2}" destId="{955B0D33-7EAD-4CBB-898F-CF29631D0AC8}" srcOrd="0" destOrd="0" presId="urn:microsoft.com/office/officeart/2005/8/layout/vList2"/>
    <dgm:cxn modelId="{67816094-5EFA-4B05-B9DF-0D6BEDA44D3F}" type="presParOf" srcId="{E1FAFB2A-B8B0-4E99-B5B1-CC095D8767C2}" destId="{E16126A6-863D-407E-9788-E16B886BEB24}" srcOrd="1" destOrd="0" presId="urn:microsoft.com/office/officeart/2005/8/layout/vList2"/>
    <dgm:cxn modelId="{4B0D874B-A5B0-4BAF-A107-5531EF3FF550}" type="presParOf" srcId="{E1FAFB2A-B8B0-4E99-B5B1-CC095D8767C2}" destId="{C771A307-F5E8-4B35-9270-7B30C351B0A4}" srcOrd="2" destOrd="0" presId="urn:microsoft.com/office/officeart/2005/8/layout/vList2"/>
    <dgm:cxn modelId="{A53C8C6C-5145-48CE-A4C7-4A6CAA31188C}" type="presParOf" srcId="{E1FAFB2A-B8B0-4E99-B5B1-CC095D8767C2}" destId="{3AE6E195-A67D-4D71-BD6D-1D92D2F54723}" srcOrd="3" destOrd="0" presId="urn:microsoft.com/office/officeart/2005/8/layout/vList2"/>
    <dgm:cxn modelId="{04035788-D1EE-45F9-A42D-68D91FCD3D91}" type="presParOf" srcId="{E1FAFB2A-B8B0-4E99-B5B1-CC095D8767C2}" destId="{242749B0-124A-4D7B-A1C9-27D1620028FA}" srcOrd="4" destOrd="0" presId="urn:microsoft.com/office/officeart/2005/8/layout/vList2"/>
    <dgm:cxn modelId="{78E1AF4B-7A19-4D71-A5B6-4782038789A4}" type="presParOf" srcId="{E1FAFB2A-B8B0-4E99-B5B1-CC095D8767C2}" destId="{E682C411-40BA-4336-89BB-06E06196F285}" srcOrd="5" destOrd="0" presId="urn:microsoft.com/office/officeart/2005/8/layout/vList2"/>
    <dgm:cxn modelId="{B0872BBF-4179-4B0B-829E-6A0CE238C90B}" type="presParOf" srcId="{E1FAFB2A-B8B0-4E99-B5B1-CC095D8767C2}" destId="{BA423137-3F3A-467B-A7F1-1C02300CCE9A}" srcOrd="6" destOrd="0" presId="urn:microsoft.com/office/officeart/2005/8/layout/vList2"/>
    <dgm:cxn modelId="{03926CFD-238C-465D-A818-D74D97F46B58}" type="presParOf" srcId="{E1FAFB2A-B8B0-4E99-B5B1-CC095D8767C2}" destId="{47B92222-C09C-4109-8579-0CDFEA28ABF2}" srcOrd="7" destOrd="0" presId="urn:microsoft.com/office/officeart/2005/8/layout/vList2"/>
    <dgm:cxn modelId="{E2C82C69-40B1-4445-88BD-1FDA7828C96E}" type="presParOf" srcId="{E1FAFB2A-B8B0-4E99-B5B1-CC095D8767C2}" destId="{FA6394C7-4BF3-4CD2-BA85-A965937F2B6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2D8F71-31DC-4717-BCE5-A1A512B36A2E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06BBEF1-4310-4986-A13C-6DF047372BB7}">
      <dgm:prSet/>
      <dgm:spPr/>
      <dgm:t>
        <a:bodyPr/>
        <a:lstStyle/>
        <a:p>
          <a:r>
            <a:rPr lang="en-GB"/>
            <a:t>Coffee is the top-selling product every day, driving the majority of weekly revenue.</a:t>
          </a:r>
          <a:endParaRPr lang="en-US"/>
        </a:p>
      </dgm:t>
    </dgm:pt>
    <dgm:pt modelId="{76D9D4E6-E653-4F7D-A273-299F0048C551}" type="parTrans" cxnId="{B182D5D8-08A1-4B5D-9BCC-C0D94D559516}">
      <dgm:prSet/>
      <dgm:spPr/>
      <dgm:t>
        <a:bodyPr/>
        <a:lstStyle/>
        <a:p>
          <a:endParaRPr lang="en-US"/>
        </a:p>
      </dgm:t>
    </dgm:pt>
    <dgm:pt modelId="{101CA17C-F593-417E-B9F7-5ECF497BEC53}" type="sibTrans" cxnId="{B182D5D8-08A1-4B5D-9BCC-C0D94D559516}">
      <dgm:prSet/>
      <dgm:spPr/>
      <dgm:t>
        <a:bodyPr/>
        <a:lstStyle/>
        <a:p>
          <a:endParaRPr lang="en-US"/>
        </a:p>
      </dgm:t>
    </dgm:pt>
    <dgm:pt modelId="{BF92F010-2841-405F-B598-D58F0DB4613F}">
      <dgm:prSet/>
      <dgm:spPr/>
      <dgm:t>
        <a:bodyPr/>
        <a:lstStyle/>
        <a:p>
          <a:r>
            <a:rPr lang="en-GB"/>
            <a:t>Monday and Friday are the </a:t>
          </a:r>
          <a:r>
            <a:rPr lang="en-GB" b="1"/>
            <a:t>highest-earning days</a:t>
          </a:r>
          <a:r>
            <a:rPr lang="en-GB"/>
            <a:t>, supported by strong bakery and coffee sales.</a:t>
          </a:r>
          <a:endParaRPr lang="en-US"/>
        </a:p>
      </dgm:t>
    </dgm:pt>
    <dgm:pt modelId="{BB7AC4A5-39F9-4D4C-B182-F67A79A53437}" type="parTrans" cxnId="{62B21C1B-53C5-4184-A8E3-1FCC7B32DF13}">
      <dgm:prSet/>
      <dgm:spPr/>
      <dgm:t>
        <a:bodyPr/>
        <a:lstStyle/>
        <a:p>
          <a:endParaRPr lang="en-US"/>
        </a:p>
      </dgm:t>
    </dgm:pt>
    <dgm:pt modelId="{AAF6A8A4-AA98-4B81-86BB-49B20A40227F}" type="sibTrans" cxnId="{62B21C1B-53C5-4184-A8E3-1FCC7B32DF13}">
      <dgm:prSet/>
      <dgm:spPr/>
      <dgm:t>
        <a:bodyPr/>
        <a:lstStyle/>
        <a:p>
          <a:endParaRPr lang="en-US"/>
        </a:p>
      </dgm:t>
    </dgm:pt>
    <dgm:pt modelId="{D674EB80-B328-460B-B48D-EE8E2AD81DD4}">
      <dgm:prSet/>
      <dgm:spPr/>
      <dgm:t>
        <a:bodyPr/>
        <a:lstStyle/>
        <a:p>
          <a:r>
            <a:rPr lang="en-GB"/>
            <a:t>Weekend sales remain </a:t>
          </a:r>
          <a:r>
            <a:rPr lang="en-GB" b="1"/>
            <a:t>steady but slightly lower</a:t>
          </a:r>
          <a:r>
            <a:rPr lang="en-GB"/>
            <a:t>, driven by tea and chocolate items.</a:t>
          </a:r>
          <a:endParaRPr lang="en-US"/>
        </a:p>
      </dgm:t>
    </dgm:pt>
    <dgm:pt modelId="{1B748DF7-7C13-47BB-97E7-CFECFF110C18}" type="parTrans" cxnId="{AF5B3762-B4EB-4A6D-A2C3-64168F032DAF}">
      <dgm:prSet/>
      <dgm:spPr/>
      <dgm:t>
        <a:bodyPr/>
        <a:lstStyle/>
        <a:p>
          <a:endParaRPr lang="en-US"/>
        </a:p>
      </dgm:t>
    </dgm:pt>
    <dgm:pt modelId="{DC76901B-D688-4D0B-B564-B0275C1DC578}" type="sibTrans" cxnId="{AF5B3762-B4EB-4A6D-A2C3-64168F032DAF}">
      <dgm:prSet/>
      <dgm:spPr/>
      <dgm:t>
        <a:bodyPr/>
        <a:lstStyle/>
        <a:p>
          <a:endParaRPr lang="en-US"/>
        </a:p>
      </dgm:t>
    </dgm:pt>
    <dgm:pt modelId="{01F0B82B-9C38-4427-9233-2FA3B1D8C3C9}">
      <dgm:prSet/>
      <dgm:spPr/>
      <dgm:t>
        <a:bodyPr/>
        <a:lstStyle/>
        <a:p>
          <a:r>
            <a:rPr lang="en-GB"/>
            <a:t>Bakery and Drinking Chocolate perform well together — ideal for combo promotions.</a:t>
          </a:r>
          <a:endParaRPr lang="en-US"/>
        </a:p>
      </dgm:t>
    </dgm:pt>
    <dgm:pt modelId="{4601168E-7D96-4AA4-9098-4C2C3EBB45E2}" type="parTrans" cxnId="{010632C6-81DB-447B-B41F-218EE8CB61C4}">
      <dgm:prSet/>
      <dgm:spPr/>
      <dgm:t>
        <a:bodyPr/>
        <a:lstStyle/>
        <a:p>
          <a:endParaRPr lang="en-US"/>
        </a:p>
      </dgm:t>
    </dgm:pt>
    <dgm:pt modelId="{78DA22DE-F9C6-453D-88FD-DD90F687537A}" type="sibTrans" cxnId="{010632C6-81DB-447B-B41F-218EE8CB61C4}">
      <dgm:prSet/>
      <dgm:spPr/>
      <dgm:t>
        <a:bodyPr/>
        <a:lstStyle/>
        <a:p>
          <a:endParaRPr lang="en-US"/>
        </a:p>
      </dgm:t>
    </dgm:pt>
    <dgm:pt modelId="{A5E8F1B6-9306-422F-BDEE-CE3AFFB0367B}">
      <dgm:prSet/>
      <dgm:spPr/>
      <dgm:t>
        <a:bodyPr/>
        <a:lstStyle/>
        <a:p>
          <a:r>
            <a:rPr lang="en-GB"/>
            <a:t>Tea shows </a:t>
          </a:r>
          <a:r>
            <a:rPr lang="en-GB" b="1"/>
            <a:t>consistent daily sales</a:t>
          </a:r>
          <a:r>
            <a:rPr lang="en-GB"/>
            <a:t>, adding balance and reliability to weekly performance.</a:t>
          </a:r>
          <a:endParaRPr lang="en-US"/>
        </a:p>
      </dgm:t>
    </dgm:pt>
    <dgm:pt modelId="{26BF5318-2D3B-47C9-BFA1-0A1CB5A69C66}" type="parTrans" cxnId="{FA286B24-6E96-4969-BC93-BC21E64516DF}">
      <dgm:prSet/>
      <dgm:spPr/>
      <dgm:t>
        <a:bodyPr/>
        <a:lstStyle/>
        <a:p>
          <a:endParaRPr lang="en-US"/>
        </a:p>
      </dgm:t>
    </dgm:pt>
    <dgm:pt modelId="{64D9EEB2-D909-4E96-802C-19C42D75B1DC}" type="sibTrans" cxnId="{FA286B24-6E96-4969-BC93-BC21E64516DF}">
      <dgm:prSet/>
      <dgm:spPr/>
      <dgm:t>
        <a:bodyPr/>
        <a:lstStyle/>
        <a:p>
          <a:endParaRPr lang="en-US"/>
        </a:p>
      </dgm:t>
    </dgm:pt>
    <dgm:pt modelId="{E1848880-3FA9-4EFA-A299-45B6E034E719}" type="pres">
      <dgm:prSet presAssocID="{F02D8F71-31DC-4717-BCE5-A1A512B36A2E}" presName="compositeShape" presStyleCnt="0">
        <dgm:presLayoutVars>
          <dgm:chMax val="7"/>
          <dgm:dir/>
          <dgm:resizeHandles val="exact"/>
        </dgm:presLayoutVars>
      </dgm:prSet>
      <dgm:spPr/>
    </dgm:pt>
    <dgm:pt modelId="{B7363427-0144-4DD7-A1CC-3CA461C2BD57}" type="pres">
      <dgm:prSet presAssocID="{F02D8F71-31DC-4717-BCE5-A1A512B36A2E}" presName="wedge1" presStyleLbl="node1" presStyleIdx="0" presStyleCnt="5"/>
      <dgm:spPr/>
    </dgm:pt>
    <dgm:pt modelId="{6FCFABA2-2AC1-4945-970C-FDA5A1786488}" type="pres">
      <dgm:prSet presAssocID="{F02D8F71-31DC-4717-BCE5-A1A512B36A2E}" presName="dummy1a" presStyleCnt="0"/>
      <dgm:spPr/>
    </dgm:pt>
    <dgm:pt modelId="{6DB4F8F8-4E6E-4880-8C62-FA3E5923F831}" type="pres">
      <dgm:prSet presAssocID="{F02D8F71-31DC-4717-BCE5-A1A512B36A2E}" presName="dummy1b" presStyleCnt="0"/>
      <dgm:spPr/>
    </dgm:pt>
    <dgm:pt modelId="{217CA073-7C5E-46F1-9267-EC070C563557}" type="pres">
      <dgm:prSet presAssocID="{F02D8F71-31DC-4717-BCE5-A1A512B36A2E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0106B9D-1AD8-4871-8637-A513709337B1}" type="pres">
      <dgm:prSet presAssocID="{F02D8F71-31DC-4717-BCE5-A1A512B36A2E}" presName="wedge2" presStyleLbl="node1" presStyleIdx="1" presStyleCnt="5"/>
      <dgm:spPr/>
    </dgm:pt>
    <dgm:pt modelId="{5A93AE2C-4ECB-4361-A4BD-19F5F88200F7}" type="pres">
      <dgm:prSet presAssocID="{F02D8F71-31DC-4717-BCE5-A1A512B36A2E}" presName="dummy2a" presStyleCnt="0"/>
      <dgm:spPr/>
    </dgm:pt>
    <dgm:pt modelId="{4F81EC10-5BC2-46CB-8127-7CA875CC40E4}" type="pres">
      <dgm:prSet presAssocID="{F02D8F71-31DC-4717-BCE5-A1A512B36A2E}" presName="dummy2b" presStyleCnt="0"/>
      <dgm:spPr/>
    </dgm:pt>
    <dgm:pt modelId="{6897C488-272D-4B21-99F0-4B56DC9B81AC}" type="pres">
      <dgm:prSet presAssocID="{F02D8F71-31DC-4717-BCE5-A1A512B36A2E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E523024-A1B9-40D2-AAC5-FCF92466373A}" type="pres">
      <dgm:prSet presAssocID="{F02D8F71-31DC-4717-BCE5-A1A512B36A2E}" presName="wedge3" presStyleLbl="node1" presStyleIdx="2" presStyleCnt="5"/>
      <dgm:spPr/>
    </dgm:pt>
    <dgm:pt modelId="{A29E234B-CE9A-48F4-A2C8-4EC578CAE190}" type="pres">
      <dgm:prSet presAssocID="{F02D8F71-31DC-4717-BCE5-A1A512B36A2E}" presName="dummy3a" presStyleCnt="0"/>
      <dgm:spPr/>
    </dgm:pt>
    <dgm:pt modelId="{15DB5C8C-B2AB-4F46-9BE5-0376B652F4A6}" type="pres">
      <dgm:prSet presAssocID="{F02D8F71-31DC-4717-BCE5-A1A512B36A2E}" presName="dummy3b" presStyleCnt="0"/>
      <dgm:spPr/>
    </dgm:pt>
    <dgm:pt modelId="{8C6F6F60-CD4B-461F-AF0E-30692883D90C}" type="pres">
      <dgm:prSet presAssocID="{F02D8F71-31DC-4717-BCE5-A1A512B36A2E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FE444C58-E17F-4F7C-98F9-B14B2BD12258}" type="pres">
      <dgm:prSet presAssocID="{F02D8F71-31DC-4717-BCE5-A1A512B36A2E}" presName="wedge4" presStyleLbl="node1" presStyleIdx="3" presStyleCnt="5"/>
      <dgm:spPr/>
    </dgm:pt>
    <dgm:pt modelId="{A18B41CC-CAB3-4E39-B47D-D6D80378D2EC}" type="pres">
      <dgm:prSet presAssocID="{F02D8F71-31DC-4717-BCE5-A1A512B36A2E}" presName="dummy4a" presStyleCnt="0"/>
      <dgm:spPr/>
    </dgm:pt>
    <dgm:pt modelId="{D88C4D51-C518-4C25-8830-DDA819DD00B9}" type="pres">
      <dgm:prSet presAssocID="{F02D8F71-31DC-4717-BCE5-A1A512B36A2E}" presName="dummy4b" presStyleCnt="0"/>
      <dgm:spPr/>
    </dgm:pt>
    <dgm:pt modelId="{EA4F6291-D255-42E2-B3E8-5CA85548B022}" type="pres">
      <dgm:prSet presAssocID="{F02D8F71-31DC-4717-BCE5-A1A512B36A2E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F34B69-9DBE-44A4-BAAF-A5BE39356341}" type="pres">
      <dgm:prSet presAssocID="{F02D8F71-31DC-4717-BCE5-A1A512B36A2E}" presName="wedge5" presStyleLbl="node1" presStyleIdx="4" presStyleCnt="5"/>
      <dgm:spPr/>
    </dgm:pt>
    <dgm:pt modelId="{43B8F091-5EF0-4F8F-AD28-6D9834DBF998}" type="pres">
      <dgm:prSet presAssocID="{F02D8F71-31DC-4717-BCE5-A1A512B36A2E}" presName="dummy5a" presStyleCnt="0"/>
      <dgm:spPr/>
    </dgm:pt>
    <dgm:pt modelId="{80E714A8-9563-485E-BB84-2E4D1A962362}" type="pres">
      <dgm:prSet presAssocID="{F02D8F71-31DC-4717-BCE5-A1A512B36A2E}" presName="dummy5b" presStyleCnt="0"/>
      <dgm:spPr/>
    </dgm:pt>
    <dgm:pt modelId="{17CF9FF0-BC5A-4452-9D75-9CB5A6986C66}" type="pres">
      <dgm:prSet presAssocID="{F02D8F71-31DC-4717-BCE5-A1A512B36A2E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E5900F65-25FF-40AF-926D-21566C567C6B}" type="pres">
      <dgm:prSet presAssocID="{101CA17C-F593-417E-B9F7-5ECF497BEC53}" presName="arrowWedge1" presStyleLbl="fgSibTrans2D1" presStyleIdx="0" presStyleCnt="5"/>
      <dgm:spPr/>
    </dgm:pt>
    <dgm:pt modelId="{4D6E1B0A-9F13-49E0-B075-711002B93E9C}" type="pres">
      <dgm:prSet presAssocID="{AAF6A8A4-AA98-4B81-86BB-49B20A40227F}" presName="arrowWedge2" presStyleLbl="fgSibTrans2D1" presStyleIdx="1" presStyleCnt="5"/>
      <dgm:spPr/>
    </dgm:pt>
    <dgm:pt modelId="{285ACF9F-D059-483C-B0BA-BFAE9A926C63}" type="pres">
      <dgm:prSet presAssocID="{DC76901B-D688-4D0B-B564-B0275C1DC578}" presName="arrowWedge3" presStyleLbl="fgSibTrans2D1" presStyleIdx="2" presStyleCnt="5"/>
      <dgm:spPr/>
    </dgm:pt>
    <dgm:pt modelId="{EBCB144C-88BE-425A-976F-D9D96EBCEB3D}" type="pres">
      <dgm:prSet presAssocID="{78DA22DE-F9C6-453D-88FD-DD90F687537A}" presName="arrowWedge4" presStyleLbl="fgSibTrans2D1" presStyleIdx="3" presStyleCnt="5"/>
      <dgm:spPr/>
    </dgm:pt>
    <dgm:pt modelId="{9A040A9B-560D-471B-A1F2-456624F61639}" type="pres">
      <dgm:prSet presAssocID="{64D9EEB2-D909-4E96-802C-19C42D75B1DC}" presName="arrowWedge5" presStyleLbl="fgSibTrans2D1" presStyleIdx="4" presStyleCnt="5"/>
      <dgm:spPr/>
    </dgm:pt>
  </dgm:ptLst>
  <dgm:cxnLst>
    <dgm:cxn modelId="{62B21C1B-53C5-4184-A8E3-1FCC7B32DF13}" srcId="{F02D8F71-31DC-4717-BCE5-A1A512B36A2E}" destId="{BF92F010-2841-405F-B598-D58F0DB4613F}" srcOrd="1" destOrd="0" parTransId="{BB7AC4A5-39F9-4D4C-B182-F67A79A53437}" sibTransId="{AAF6A8A4-AA98-4B81-86BB-49B20A40227F}"/>
    <dgm:cxn modelId="{FA286B24-6E96-4969-BC93-BC21E64516DF}" srcId="{F02D8F71-31DC-4717-BCE5-A1A512B36A2E}" destId="{A5E8F1B6-9306-422F-BDEE-CE3AFFB0367B}" srcOrd="4" destOrd="0" parTransId="{26BF5318-2D3B-47C9-BFA1-0A1CB5A69C66}" sibTransId="{64D9EEB2-D909-4E96-802C-19C42D75B1DC}"/>
    <dgm:cxn modelId="{AF5B3762-B4EB-4A6D-A2C3-64168F032DAF}" srcId="{F02D8F71-31DC-4717-BCE5-A1A512B36A2E}" destId="{D674EB80-B328-460B-B48D-EE8E2AD81DD4}" srcOrd="2" destOrd="0" parTransId="{1B748DF7-7C13-47BB-97E7-CFECFF110C18}" sibTransId="{DC76901B-D688-4D0B-B564-B0275C1DC578}"/>
    <dgm:cxn modelId="{30D3C547-D751-4546-A10A-273A34EDD5CD}" type="presOf" srcId="{01F0B82B-9C38-4427-9233-2FA3B1D8C3C9}" destId="{EA4F6291-D255-42E2-B3E8-5CA85548B022}" srcOrd="1" destOrd="0" presId="urn:microsoft.com/office/officeart/2005/8/layout/cycle8"/>
    <dgm:cxn modelId="{D4B30E69-87ED-4388-B9D5-108A5985E514}" type="presOf" srcId="{D674EB80-B328-460B-B48D-EE8E2AD81DD4}" destId="{EE523024-A1B9-40D2-AAC5-FCF92466373A}" srcOrd="0" destOrd="0" presId="urn:microsoft.com/office/officeart/2005/8/layout/cycle8"/>
    <dgm:cxn modelId="{B81D3C49-0193-4532-A6D3-9EAA59DE8434}" type="presOf" srcId="{BF92F010-2841-405F-B598-D58F0DB4613F}" destId="{6897C488-272D-4B21-99F0-4B56DC9B81AC}" srcOrd="1" destOrd="0" presId="urn:microsoft.com/office/officeart/2005/8/layout/cycle8"/>
    <dgm:cxn modelId="{D4856F69-22AB-46F7-BE3E-9A5D2FB0E097}" type="presOf" srcId="{01F0B82B-9C38-4427-9233-2FA3B1D8C3C9}" destId="{FE444C58-E17F-4F7C-98F9-B14B2BD12258}" srcOrd="0" destOrd="0" presId="urn:microsoft.com/office/officeart/2005/8/layout/cycle8"/>
    <dgm:cxn modelId="{BDA9DF4B-6E23-46B6-9D3C-FAFD04384A66}" type="presOf" srcId="{BF92F010-2841-405F-B598-D58F0DB4613F}" destId="{20106B9D-1AD8-4871-8637-A513709337B1}" srcOrd="0" destOrd="0" presId="urn:microsoft.com/office/officeart/2005/8/layout/cycle8"/>
    <dgm:cxn modelId="{29AF3154-10F0-4C4B-9AC3-A17050A749E8}" type="presOf" srcId="{D674EB80-B328-460B-B48D-EE8E2AD81DD4}" destId="{8C6F6F60-CD4B-461F-AF0E-30692883D90C}" srcOrd="1" destOrd="0" presId="urn:microsoft.com/office/officeart/2005/8/layout/cycle8"/>
    <dgm:cxn modelId="{9393C694-67EF-4EBD-8065-2C86CA0D2491}" type="presOf" srcId="{A5E8F1B6-9306-422F-BDEE-CE3AFFB0367B}" destId="{17CF9FF0-BC5A-4452-9D75-9CB5A6986C66}" srcOrd="1" destOrd="0" presId="urn:microsoft.com/office/officeart/2005/8/layout/cycle8"/>
    <dgm:cxn modelId="{FE9D52AB-23D8-4ABA-A5EB-C3C5DF5F07B4}" type="presOf" srcId="{A5E8F1B6-9306-422F-BDEE-CE3AFFB0367B}" destId="{81F34B69-9DBE-44A4-BAAF-A5BE39356341}" srcOrd="0" destOrd="0" presId="urn:microsoft.com/office/officeart/2005/8/layout/cycle8"/>
    <dgm:cxn modelId="{96BAB9AF-3B91-4CB8-8B1D-57D9F6B2B2D3}" type="presOf" srcId="{A06BBEF1-4310-4986-A13C-6DF047372BB7}" destId="{217CA073-7C5E-46F1-9267-EC070C563557}" srcOrd="1" destOrd="0" presId="urn:microsoft.com/office/officeart/2005/8/layout/cycle8"/>
    <dgm:cxn modelId="{56C665C2-7396-4909-969A-3981E99854BD}" type="presOf" srcId="{F02D8F71-31DC-4717-BCE5-A1A512B36A2E}" destId="{E1848880-3FA9-4EFA-A299-45B6E034E719}" srcOrd="0" destOrd="0" presId="urn:microsoft.com/office/officeart/2005/8/layout/cycle8"/>
    <dgm:cxn modelId="{010632C6-81DB-447B-B41F-218EE8CB61C4}" srcId="{F02D8F71-31DC-4717-BCE5-A1A512B36A2E}" destId="{01F0B82B-9C38-4427-9233-2FA3B1D8C3C9}" srcOrd="3" destOrd="0" parTransId="{4601168E-7D96-4AA4-9098-4C2C3EBB45E2}" sibTransId="{78DA22DE-F9C6-453D-88FD-DD90F687537A}"/>
    <dgm:cxn modelId="{04EF7DD7-C549-48A1-B53A-4A714D9A2195}" type="presOf" srcId="{A06BBEF1-4310-4986-A13C-6DF047372BB7}" destId="{B7363427-0144-4DD7-A1CC-3CA461C2BD57}" srcOrd="0" destOrd="0" presId="urn:microsoft.com/office/officeart/2005/8/layout/cycle8"/>
    <dgm:cxn modelId="{B182D5D8-08A1-4B5D-9BCC-C0D94D559516}" srcId="{F02D8F71-31DC-4717-BCE5-A1A512B36A2E}" destId="{A06BBEF1-4310-4986-A13C-6DF047372BB7}" srcOrd="0" destOrd="0" parTransId="{76D9D4E6-E653-4F7D-A273-299F0048C551}" sibTransId="{101CA17C-F593-417E-B9F7-5ECF497BEC53}"/>
    <dgm:cxn modelId="{48D14A92-6CC5-4348-9EE4-6D12EACD883D}" type="presParOf" srcId="{E1848880-3FA9-4EFA-A299-45B6E034E719}" destId="{B7363427-0144-4DD7-A1CC-3CA461C2BD57}" srcOrd="0" destOrd="0" presId="urn:microsoft.com/office/officeart/2005/8/layout/cycle8"/>
    <dgm:cxn modelId="{9D23A374-CBC1-4B4F-9FDA-2BF0022D2599}" type="presParOf" srcId="{E1848880-3FA9-4EFA-A299-45B6E034E719}" destId="{6FCFABA2-2AC1-4945-970C-FDA5A1786488}" srcOrd="1" destOrd="0" presId="urn:microsoft.com/office/officeart/2005/8/layout/cycle8"/>
    <dgm:cxn modelId="{9E108AE4-24D5-4818-8A0F-00218DB13191}" type="presParOf" srcId="{E1848880-3FA9-4EFA-A299-45B6E034E719}" destId="{6DB4F8F8-4E6E-4880-8C62-FA3E5923F831}" srcOrd="2" destOrd="0" presId="urn:microsoft.com/office/officeart/2005/8/layout/cycle8"/>
    <dgm:cxn modelId="{18C3CFC0-B892-447E-B8D7-14408CE9181C}" type="presParOf" srcId="{E1848880-3FA9-4EFA-A299-45B6E034E719}" destId="{217CA073-7C5E-46F1-9267-EC070C563557}" srcOrd="3" destOrd="0" presId="urn:microsoft.com/office/officeart/2005/8/layout/cycle8"/>
    <dgm:cxn modelId="{A9D44DBB-EBF9-44C8-8089-3E5C9F3ADD60}" type="presParOf" srcId="{E1848880-3FA9-4EFA-A299-45B6E034E719}" destId="{20106B9D-1AD8-4871-8637-A513709337B1}" srcOrd="4" destOrd="0" presId="urn:microsoft.com/office/officeart/2005/8/layout/cycle8"/>
    <dgm:cxn modelId="{E64439DA-71B7-48BC-893B-D692CEDCE300}" type="presParOf" srcId="{E1848880-3FA9-4EFA-A299-45B6E034E719}" destId="{5A93AE2C-4ECB-4361-A4BD-19F5F88200F7}" srcOrd="5" destOrd="0" presId="urn:microsoft.com/office/officeart/2005/8/layout/cycle8"/>
    <dgm:cxn modelId="{7E26F761-2393-443B-BDA9-64AA9CA2AA90}" type="presParOf" srcId="{E1848880-3FA9-4EFA-A299-45B6E034E719}" destId="{4F81EC10-5BC2-46CB-8127-7CA875CC40E4}" srcOrd="6" destOrd="0" presId="urn:microsoft.com/office/officeart/2005/8/layout/cycle8"/>
    <dgm:cxn modelId="{A046C3F8-2489-409E-849E-4BBC54C5FB71}" type="presParOf" srcId="{E1848880-3FA9-4EFA-A299-45B6E034E719}" destId="{6897C488-272D-4B21-99F0-4B56DC9B81AC}" srcOrd="7" destOrd="0" presId="urn:microsoft.com/office/officeart/2005/8/layout/cycle8"/>
    <dgm:cxn modelId="{BC0BBBD5-8607-449A-9833-3733C8B2170D}" type="presParOf" srcId="{E1848880-3FA9-4EFA-A299-45B6E034E719}" destId="{EE523024-A1B9-40D2-AAC5-FCF92466373A}" srcOrd="8" destOrd="0" presId="urn:microsoft.com/office/officeart/2005/8/layout/cycle8"/>
    <dgm:cxn modelId="{30D45490-F28C-450E-87E2-47A2587AD7E1}" type="presParOf" srcId="{E1848880-3FA9-4EFA-A299-45B6E034E719}" destId="{A29E234B-CE9A-48F4-A2C8-4EC578CAE190}" srcOrd="9" destOrd="0" presId="urn:microsoft.com/office/officeart/2005/8/layout/cycle8"/>
    <dgm:cxn modelId="{C2606931-117C-4286-89DA-B4D478B854B1}" type="presParOf" srcId="{E1848880-3FA9-4EFA-A299-45B6E034E719}" destId="{15DB5C8C-B2AB-4F46-9BE5-0376B652F4A6}" srcOrd="10" destOrd="0" presId="urn:microsoft.com/office/officeart/2005/8/layout/cycle8"/>
    <dgm:cxn modelId="{B9ADF6E0-4394-440B-BD04-46123B2B174F}" type="presParOf" srcId="{E1848880-3FA9-4EFA-A299-45B6E034E719}" destId="{8C6F6F60-CD4B-461F-AF0E-30692883D90C}" srcOrd="11" destOrd="0" presId="urn:microsoft.com/office/officeart/2005/8/layout/cycle8"/>
    <dgm:cxn modelId="{A7DF0744-DBBE-4280-A8FF-81B55E598F2B}" type="presParOf" srcId="{E1848880-3FA9-4EFA-A299-45B6E034E719}" destId="{FE444C58-E17F-4F7C-98F9-B14B2BD12258}" srcOrd="12" destOrd="0" presId="urn:microsoft.com/office/officeart/2005/8/layout/cycle8"/>
    <dgm:cxn modelId="{6F19E346-ABE2-4D4E-93A1-569556CE3461}" type="presParOf" srcId="{E1848880-3FA9-4EFA-A299-45B6E034E719}" destId="{A18B41CC-CAB3-4E39-B47D-D6D80378D2EC}" srcOrd="13" destOrd="0" presId="urn:microsoft.com/office/officeart/2005/8/layout/cycle8"/>
    <dgm:cxn modelId="{49367BC6-7AB7-4C5A-934D-E1F16F57871A}" type="presParOf" srcId="{E1848880-3FA9-4EFA-A299-45B6E034E719}" destId="{D88C4D51-C518-4C25-8830-DDA819DD00B9}" srcOrd="14" destOrd="0" presId="urn:microsoft.com/office/officeart/2005/8/layout/cycle8"/>
    <dgm:cxn modelId="{B751C0A3-43E9-499E-A5A8-9A77A2DEE37A}" type="presParOf" srcId="{E1848880-3FA9-4EFA-A299-45B6E034E719}" destId="{EA4F6291-D255-42E2-B3E8-5CA85548B022}" srcOrd="15" destOrd="0" presId="urn:microsoft.com/office/officeart/2005/8/layout/cycle8"/>
    <dgm:cxn modelId="{6654FF36-89AE-4BA8-B4AB-DE9D12924E03}" type="presParOf" srcId="{E1848880-3FA9-4EFA-A299-45B6E034E719}" destId="{81F34B69-9DBE-44A4-BAAF-A5BE39356341}" srcOrd="16" destOrd="0" presId="urn:microsoft.com/office/officeart/2005/8/layout/cycle8"/>
    <dgm:cxn modelId="{416E08AC-7E14-4A29-85EB-79E780B1FCC9}" type="presParOf" srcId="{E1848880-3FA9-4EFA-A299-45B6E034E719}" destId="{43B8F091-5EF0-4F8F-AD28-6D9834DBF998}" srcOrd="17" destOrd="0" presId="urn:microsoft.com/office/officeart/2005/8/layout/cycle8"/>
    <dgm:cxn modelId="{24F72DC4-8DD1-44C1-8CB3-C599D28532B6}" type="presParOf" srcId="{E1848880-3FA9-4EFA-A299-45B6E034E719}" destId="{80E714A8-9563-485E-BB84-2E4D1A962362}" srcOrd="18" destOrd="0" presId="urn:microsoft.com/office/officeart/2005/8/layout/cycle8"/>
    <dgm:cxn modelId="{DBC650E5-A06E-4727-AD65-2816A1E95085}" type="presParOf" srcId="{E1848880-3FA9-4EFA-A299-45B6E034E719}" destId="{17CF9FF0-BC5A-4452-9D75-9CB5A6986C66}" srcOrd="19" destOrd="0" presId="urn:microsoft.com/office/officeart/2005/8/layout/cycle8"/>
    <dgm:cxn modelId="{B6745FD0-55D0-4476-920A-56EC1F2B6949}" type="presParOf" srcId="{E1848880-3FA9-4EFA-A299-45B6E034E719}" destId="{E5900F65-25FF-40AF-926D-21566C567C6B}" srcOrd="20" destOrd="0" presId="urn:microsoft.com/office/officeart/2005/8/layout/cycle8"/>
    <dgm:cxn modelId="{9B61E0AD-EAB5-4DB1-A5EC-3D75D46129BE}" type="presParOf" srcId="{E1848880-3FA9-4EFA-A299-45B6E034E719}" destId="{4D6E1B0A-9F13-49E0-B075-711002B93E9C}" srcOrd="21" destOrd="0" presId="urn:microsoft.com/office/officeart/2005/8/layout/cycle8"/>
    <dgm:cxn modelId="{F118666E-C4B4-43E3-83A6-8AEC80AFB351}" type="presParOf" srcId="{E1848880-3FA9-4EFA-A299-45B6E034E719}" destId="{285ACF9F-D059-483C-B0BA-BFAE9A926C63}" srcOrd="22" destOrd="0" presId="urn:microsoft.com/office/officeart/2005/8/layout/cycle8"/>
    <dgm:cxn modelId="{03E30159-147E-4953-8586-308AD10930EF}" type="presParOf" srcId="{E1848880-3FA9-4EFA-A299-45B6E034E719}" destId="{EBCB144C-88BE-425A-976F-D9D96EBCEB3D}" srcOrd="23" destOrd="0" presId="urn:microsoft.com/office/officeart/2005/8/layout/cycle8"/>
    <dgm:cxn modelId="{95CA8817-AD43-4DEF-92AB-549A43E1551B}" type="presParOf" srcId="{E1848880-3FA9-4EFA-A299-45B6E034E719}" destId="{9A040A9B-560D-471B-A1F2-456624F61639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136681-254A-478B-8317-1EE94A14F4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4C8608-80F1-4C58-86C3-4CB8D3068B1E}">
      <dgm:prSet/>
      <dgm:spPr/>
      <dgm:t>
        <a:bodyPr/>
        <a:lstStyle/>
        <a:p>
          <a:r>
            <a:rPr lang="en-GB" b="1"/>
            <a:t>Coffee and Tea</a:t>
          </a:r>
          <a:r>
            <a:rPr lang="en-GB"/>
            <a:t> are the main revenue drivers, contributing </a:t>
          </a:r>
          <a:r>
            <a:rPr lang="en-GB" b="1"/>
            <a:t>over 65%</a:t>
          </a:r>
          <a:r>
            <a:rPr lang="en-GB"/>
            <a:t> of total sales.</a:t>
          </a:r>
          <a:endParaRPr lang="en-US"/>
        </a:p>
      </dgm:t>
    </dgm:pt>
    <dgm:pt modelId="{2F18E7D1-CD89-4673-80BA-085074B23ABF}" type="parTrans" cxnId="{9247F02C-27EE-4ABA-8D7B-6A3A84A96640}">
      <dgm:prSet/>
      <dgm:spPr/>
      <dgm:t>
        <a:bodyPr/>
        <a:lstStyle/>
        <a:p>
          <a:endParaRPr lang="en-US"/>
        </a:p>
      </dgm:t>
    </dgm:pt>
    <dgm:pt modelId="{896352D3-E4DD-4028-A8E6-B508ED79F7A8}" type="sibTrans" cxnId="{9247F02C-27EE-4ABA-8D7B-6A3A84A96640}">
      <dgm:prSet/>
      <dgm:spPr/>
      <dgm:t>
        <a:bodyPr/>
        <a:lstStyle/>
        <a:p>
          <a:endParaRPr lang="en-US"/>
        </a:p>
      </dgm:t>
    </dgm:pt>
    <dgm:pt modelId="{E7DCBFDD-BBA6-47D6-B801-5C7AB4AF689B}">
      <dgm:prSet/>
      <dgm:spPr/>
      <dgm:t>
        <a:bodyPr/>
        <a:lstStyle/>
        <a:p>
          <a:r>
            <a:rPr lang="en-GB" b="1"/>
            <a:t>Bakery and Drinking Chocolate</a:t>
          </a:r>
          <a:r>
            <a:rPr lang="en-GB"/>
            <a:t> strengthen beverage sales through strong combo potential.</a:t>
          </a:r>
          <a:endParaRPr lang="en-US"/>
        </a:p>
      </dgm:t>
    </dgm:pt>
    <dgm:pt modelId="{48279F21-2346-451B-B8D9-130770FB9F06}" type="parTrans" cxnId="{CB66AB20-9A5C-40DD-90EB-C54CFE649925}">
      <dgm:prSet/>
      <dgm:spPr/>
      <dgm:t>
        <a:bodyPr/>
        <a:lstStyle/>
        <a:p>
          <a:endParaRPr lang="en-US"/>
        </a:p>
      </dgm:t>
    </dgm:pt>
    <dgm:pt modelId="{A3C4494E-433A-488F-A421-3891BFF6947D}" type="sibTrans" cxnId="{CB66AB20-9A5C-40DD-90EB-C54CFE649925}">
      <dgm:prSet/>
      <dgm:spPr/>
      <dgm:t>
        <a:bodyPr/>
        <a:lstStyle/>
        <a:p>
          <a:endParaRPr lang="en-US"/>
        </a:p>
      </dgm:t>
    </dgm:pt>
    <dgm:pt modelId="{E06AEA71-D99C-404D-87EC-BE2745443528}">
      <dgm:prSet/>
      <dgm:spPr/>
      <dgm:t>
        <a:bodyPr/>
        <a:lstStyle/>
        <a:p>
          <a:r>
            <a:rPr lang="en-GB" b="1"/>
            <a:t>Coffee Beans</a:t>
          </a:r>
          <a:r>
            <a:rPr lang="en-GB"/>
            <a:t> show high-value sales despite low volume — indicating </a:t>
          </a:r>
          <a:r>
            <a:rPr lang="en-GB" b="1"/>
            <a:t>premium appeal</a:t>
          </a:r>
          <a:r>
            <a:rPr lang="en-GB"/>
            <a:t>.</a:t>
          </a:r>
          <a:endParaRPr lang="en-US"/>
        </a:p>
      </dgm:t>
    </dgm:pt>
    <dgm:pt modelId="{5BDD23B1-97E9-419D-A34A-4A1212F9286D}" type="parTrans" cxnId="{3B841914-ABCD-4627-ABBF-A414E8976652}">
      <dgm:prSet/>
      <dgm:spPr/>
      <dgm:t>
        <a:bodyPr/>
        <a:lstStyle/>
        <a:p>
          <a:endParaRPr lang="en-US"/>
        </a:p>
      </dgm:t>
    </dgm:pt>
    <dgm:pt modelId="{8C7D306E-AE80-4B0A-A407-1E63A77E9FD9}" type="sibTrans" cxnId="{3B841914-ABCD-4627-ABBF-A414E8976652}">
      <dgm:prSet/>
      <dgm:spPr/>
      <dgm:t>
        <a:bodyPr/>
        <a:lstStyle/>
        <a:p>
          <a:endParaRPr lang="en-US"/>
        </a:p>
      </dgm:t>
    </dgm:pt>
    <dgm:pt modelId="{108B2F3D-CE57-443A-A3BC-1163348E89CC}">
      <dgm:prSet/>
      <dgm:spPr/>
      <dgm:t>
        <a:bodyPr/>
        <a:lstStyle/>
        <a:p>
          <a:r>
            <a:rPr lang="en-GB" b="1"/>
            <a:t>Flavours and Packaged Chocolate</a:t>
          </a:r>
          <a:r>
            <a:rPr lang="en-GB"/>
            <a:t> underperform and may need </a:t>
          </a:r>
          <a:r>
            <a:rPr lang="en-GB" b="1"/>
            <a:t>promotion or repositioning</a:t>
          </a:r>
          <a:r>
            <a:rPr lang="en-GB"/>
            <a:t>.</a:t>
          </a:r>
          <a:endParaRPr lang="en-US"/>
        </a:p>
      </dgm:t>
    </dgm:pt>
    <dgm:pt modelId="{5DE90724-FC44-4E84-973E-2A572AF84223}" type="parTrans" cxnId="{0AEDFDBC-F653-4303-8432-CE028BB8F75D}">
      <dgm:prSet/>
      <dgm:spPr/>
      <dgm:t>
        <a:bodyPr/>
        <a:lstStyle/>
        <a:p>
          <a:endParaRPr lang="en-US"/>
        </a:p>
      </dgm:t>
    </dgm:pt>
    <dgm:pt modelId="{165D7F8A-D660-4757-B5C6-9734252E39FE}" type="sibTrans" cxnId="{0AEDFDBC-F653-4303-8432-CE028BB8F75D}">
      <dgm:prSet/>
      <dgm:spPr/>
      <dgm:t>
        <a:bodyPr/>
        <a:lstStyle/>
        <a:p>
          <a:endParaRPr lang="en-US"/>
        </a:p>
      </dgm:t>
    </dgm:pt>
    <dgm:pt modelId="{3D5B2525-E887-4652-8938-83087C420A46}">
      <dgm:prSet/>
      <dgm:spPr/>
      <dgm:t>
        <a:bodyPr/>
        <a:lstStyle/>
        <a:p>
          <a:r>
            <a:rPr lang="en-GB"/>
            <a:t>The shop’s strength lies in </a:t>
          </a:r>
          <a:r>
            <a:rPr lang="en-GB" b="1"/>
            <a:t>beverage-led growth</a:t>
          </a:r>
          <a:r>
            <a:rPr lang="en-GB"/>
            <a:t>, supported by </a:t>
          </a:r>
          <a:r>
            <a:rPr lang="en-GB" b="1"/>
            <a:t>strategic food pairings</a:t>
          </a:r>
          <a:r>
            <a:rPr lang="en-GB"/>
            <a:t>.</a:t>
          </a:r>
          <a:endParaRPr lang="en-US"/>
        </a:p>
      </dgm:t>
    </dgm:pt>
    <dgm:pt modelId="{4A1E1652-7119-4DD1-87C3-28694C8FE75C}" type="parTrans" cxnId="{A8D52FAF-629E-4E9D-B5CC-459F253CD5BD}">
      <dgm:prSet/>
      <dgm:spPr/>
      <dgm:t>
        <a:bodyPr/>
        <a:lstStyle/>
        <a:p>
          <a:endParaRPr lang="en-US"/>
        </a:p>
      </dgm:t>
    </dgm:pt>
    <dgm:pt modelId="{BC09A3B0-CB15-4B94-A633-154C52F585AE}" type="sibTrans" cxnId="{A8D52FAF-629E-4E9D-B5CC-459F253CD5BD}">
      <dgm:prSet/>
      <dgm:spPr/>
      <dgm:t>
        <a:bodyPr/>
        <a:lstStyle/>
        <a:p>
          <a:endParaRPr lang="en-US"/>
        </a:p>
      </dgm:t>
    </dgm:pt>
    <dgm:pt modelId="{1AE1809D-DC3A-45F3-975E-0AF61AE44403}" type="pres">
      <dgm:prSet presAssocID="{B0136681-254A-478B-8317-1EE94A14F477}" presName="linear" presStyleCnt="0">
        <dgm:presLayoutVars>
          <dgm:animLvl val="lvl"/>
          <dgm:resizeHandles val="exact"/>
        </dgm:presLayoutVars>
      </dgm:prSet>
      <dgm:spPr/>
    </dgm:pt>
    <dgm:pt modelId="{DD032A85-95EC-403B-893A-CC1B7DA32F4B}" type="pres">
      <dgm:prSet presAssocID="{414C8608-80F1-4C58-86C3-4CB8D3068B1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6BFF81C-F492-4642-94BA-371BDA2AE250}" type="pres">
      <dgm:prSet presAssocID="{896352D3-E4DD-4028-A8E6-B508ED79F7A8}" presName="spacer" presStyleCnt="0"/>
      <dgm:spPr/>
    </dgm:pt>
    <dgm:pt modelId="{265401F2-A0CE-4D39-81C5-4EFAAA11D9EB}" type="pres">
      <dgm:prSet presAssocID="{E7DCBFDD-BBA6-47D6-B801-5C7AB4AF689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8176B51-5556-4948-9333-2B1B33C98878}" type="pres">
      <dgm:prSet presAssocID="{A3C4494E-433A-488F-A421-3891BFF6947D}" presName="spacer" presStyleCnt="0"/>
      <dgm:spPr/>
    </dgm:pt>
    <dgm:pt modelId="{1D245009-384B-446A-8199-35BB1201ADA5}" type="pres">
      <dgm:prSet presAssocID="{E06AEA71-D99C-404D-87EC-BE274544352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B79F2C5-2464-4ECC-8122-5498FF1EC105}" type="pres">
      <dgm:prSet presAssocID="{8C7D306E-AE80-4B0A-A407-1E63A77E9FD9}" presName="spacer" presStyleCnt="0"/>
      <dgm:spPr/>
    </dgm:pt>
    <dgm:pt modelId="{2E4900EB-0CEB-45BF-BD68-85034929F54E}" type="pres">
      <dgm:prSet presAssocID="{108B2F3D-CE57-443A-A3BC-1163348E89C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13C9B03-8249-478B-95A9-352860138DF7}" type="pres">
      <dgm:prSet presAssocID="{165D7F8A-D660-4757-B5C6-9734252E39FE}" presName="spacer" presStyleCnt="0"/>
      <dgm:spPr/>
    </dgm:pt>
    <dgm:pt modelId="{E91A8C6E-8E0F-43F4-AF77-4D82252F3687}" type="pres">
      <dgm:prSet presAssocID="{3D5B2525-E887-4652-8938-83087C420A4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23590B-5918-4611-9888-AB4AC48E7E60}" type="presOf" srcId="{B0136681-254A-478B-8317-1EE94A14F477}" destId="{1AE1809D-DC3A-45F3-975E-0AF61AE44403}" srcOrd="0" destOrd="0" presId="urn:microsoft.com/office/officeart/2005/8/layout/vList2"/>
    <dgm:cxn modelId="{3B841914-ABCD-4627-ABBF-A414E8976652}" srcId="{B0136681-254A-478B-8317-1EE94A14F477}" destId="{E06AEA71-D99C-404D-87EC-BE2745443528}" srcOrd="2" destOrd="0" parTransId="{5BDD23B1-97E9-419D-A34A-4A1212F9286D}" sibTransId="{8C7D306E-AE80-4B0A-A407-1E63A77E9FD9}"/>
    <dgm:cxn modelId="{CB66AB20-9A5C-40DD-90EB-C54CFE649925}" srcId="{B0136681-254A-478B-8317-1EE94A14F477}" destId="{E7DCBFDD-BBA6-47D6-B801-5C7AB4AF689B}" srcOrd="1" destOrd="0" parTransId="{48279F21-2346-451B-B8D9-130770FB9F06}" sibTransId="{A3C4494E-433A-488F-A421-3891BFF6947D}"/>
    <dgm:cxn modelId="{9247F02C-27EE-4ABA-8D7B-6A3A84A96640}" srcId="{B0136681-254A-478B-8317-1EE94A14F477}" destId="{414C8608-80F1-4C58-86C3-4CB8D3068B1E}" srcOrd="0" destOrd="0" parTransId="{2F18E7D1-CD89-4673-80BA-085074B23ABF}" sibTransId="{896352D3-E4DD-4028-A8E6-B508ED79F7A8}"/>
    <dgm:cxn modelId="{2EC6A465-58CF-4185-95D3-7A8FD95C5413}" type="presOf" srcId="{E7DCBFDD-BBA6-47D6-B801-5C7AB4AF689B}" destId="{265401F2-A0CE-4D39-81C5-4EFAAA11D9EB}" srcOrd="0" destOrd="0" presId="urn:microsoft.com/office/officeart/2005/8/layout/vList2"/>
    <dgm:cxn modelId="{7AF6E698-5157-45D1-81D5-693584FBEE20}" type="presOf" srcId="{108B2F3D-CE57-443A-A3BC-1163348E89CC}" destId="{2E4900EB-0CEB-45BF-BD68-85034929F54E}" srcOrd="0" destOrd="0" presId="urn:microsoft.com/office/officeart/2005/8/layout/vList2"/>
    <dgm:cxn modelId="{A8D52FAF-629E-4E9D-B5CC-459F253CD5BD}" srcId="{B0136681-254A-478B-8317-1EE94A14F477}" destId="{3D5B2525-E887-4652-8938-83087C420A46}" srcOrd="4" destOrd="0" parTransId="{4A1E1652-7119-4DD1-87C3-28694C8FE75C}" sibTransId="{BC09A3B0-CB15-4B94-A633-154C52F585AE}"/>
    <dgm:cxn modelId="{A42FC7B3-0E3E-48A4-8E1D-F91A09E2306D}" type="presOf" srcId="{414C8608-80F1-4C58-86C3-4CB8D3068B1E}" destId="{DD032A85-95EC-403B-893A-CC1B7DA32F4B}" srcOrd="0" destOrd="0" presId="urn:microsoft.com/office/officeart/2005/8/layout/vList2"/>
    <dgm:cxn modelId="{0AEDFDBC-F653-4303-8432-CE028BB8F75D}" srcId="{B0136681-254A-478B-8317-1EE94A14F477}" destId="{108B2F3D-CE57-443A-A3BC-1163348E89CC}" srcOrd="3" destOrd="0" parTransId="{5DE90724-FC44-4E84-973E-2A572AF84223}" sibTransId="{165D7F8A-D660-4757-B5C6-9734252E39FE}"/>
    <dgm:cxn modelId="{ED0C6EDF-E011-419D-94F0-6A71CAFDF328}" type="presOf" srcId="{E06AEA71-D99C-404D-87EC-BE2745443528}" destId="{1D245009-384B-446A-8199-35BB1201ADA5}" srcOrd="0" destOrd="0" presId="urn:microsoft.com/office/officeart/2005/8/layout/vList2"/>
    <dgm:cxn modelId="{EA5F1FFB-306C-4BBA-B2B2-461608A3F2EB}" type="presOf" srcId="{3D5B2525-E887-4652-8938-83087C420A46}" destId="{E91A8C6E-8E0F-43F4-AF77-4D82252F3687}" srcOrd="0" destOrd="0" presId="urn:microsoft.com/office/officeart/2005/8/layout/vList2"/>
    <dgm:cxn modelId="{4E1DFED7-CB9E-47E3-B307-E797E639E325}" type="presParOf" srcId="{1AE1809D-DC3A-45F3-975E-0AF61AE44403}" destId="{DD032A85-95EC-403B-893A-CC1B7DA32F4B}" srcOrd="0" destOrd="0" presId="urn:microsoft.com/office/officeart/2005/8/layout/vList2"/>
    <dgm:cxn modelId="{E0A71679-59AA-4227-B0BF-9620E19AB6CC}" type="presParOf" srcId="{1AE1809D-DC3A-45F3-975E-0AF61AE44403}" destId="{56BFF81C-F492-4642-94BA-371BDA2AE250}" srcOrd="1" destOrd="0" presId="urn:microsoft.com/office/officeart/2005/8/layout/vList2"/>
    <dgm:cxn modelId="{A338D4FA-2392-40FA-9611-1A3811D319C5}" type="presParOf" srcId="{1AE1809D-DC3A-45F3-975E-0AF61AE44403}" destId="{265401F2-A0CE-4D39-81C5-4EFAAA11D9EB}" srcOrd="2" destOrd="0" presId="urn:microsoft.com/office/officeart/2005/8/layout/vList2"/>
    <dgm:cxn modelId="{FC035A09-FA0C-4776-A1AA-41B6027EC35D}" type="presParOf" srcId="{1AE1809D-DC3A-45F3-975E-0AF61AE44403}" destId="{78176B51-5556-4948-9333-2B1B33C98878}" srcOrd="3" destOrd="0" presId="urn:microsoft.com/office/officeart/2005/8/layout/vList2"/>
    <dgm:cxn modelId="{0D08A1A1-05F0-4476-B68F-DE6908207F61}" type="presParOf" srcId="{1AE1809D-DC3A-45F3-975E-0AF61AE44403}" destId="{1D245009-384B-446A-8199-35BB1201ADA5}" srcOrd="4" destOrd="0" presId="urn:microsoft.com/office/officeart/2005/8/layout/vList2"/>
    <dgm:cxn modelId="{4F7B6D7E-26B9-4777-BE3F-0D7D5D9DC857}" type="presParOf" srcId="{1AE1809D-DC3A-45F3-975E-0AF61AE44403}" destId="{4B79F2C5-2464-4ECC-8122-5498FF1EC105}" srcOrd="5" destOrd="0" presId="urn:microsoft.com/office/officeart/2005/8/layout/vList2"/>
    <dgm:cxn modelId="{6E6D5F2C-2370-4D14-8843-3A80E2E7983E}" type="presParOf" srcId="{1AE1809D-DC3A-45F3-975E-0AF61AE44403}" destId="{2E4900EB-0CEB-45BF-BD68-85034929F54E}" srcOrd="6" destOrd="0" presId="urn:microsoft.com/office/officeart/2005/8/layout/vList2"/>
    <dgm:cxn modelId="{99880A7E-5A7E-4B4B-B335-D6F7009D4CA1}" type="presParOf" srcId="{1AE1809D-DC3A-45F3-975E-0AF61AE44403}" destId="{713C9B03-8249-478B-95A9-352860138DF7}" srcOrd="7" destOrd="0" presId="urn:microsoft.com/office/officeart/2005/8/layout/vList2"/>
    <dgm:cxn modelId="{079B2011-E933-4BF2-B79E-83E5D737615B}" type="presParOf" srcId="{1AE1809D-DC3A-45F3-975E-0AF61AE44403}" destId="{E91A8C6E-8E0F-43F4-AF77-4D82252F368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BA56C-3CF5-42FF-B8EC-A988A77637F4}">
      <dsp:nvSpPr>
        <dsp:cNvPr id="0" name=""/>
        <dsp:cNvSpPr/>
      </dsp:nvSpPr>
      <dsp:spPr>
        <a:xfrm>
          <a:off x="0" y="663231"/>
          <a:ext cx="6367912" cy="798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Weekly Transactions Summary — Bright Coffee Shop</a:t>
          </a:r>
          <a:endParaRPr lang="en-US" sz="2000" kern="1200"/>
        </a:p>
      </dsp:txBody>
      <dsp:txXfrm>
        <a:off x="38981" y="702212"/>
        <a:ext cx="6289950" cy="720563"/>
      </dsp:txXfrm>
    </dsp:sp>
    <dsp:sp modelId="{B6B9B774-B958-4F69-8157-0C1A7DD9EC06}">
      <dsp:nvSpPr>
        <dsp:cNvPr id="0" name=""/>
        <dsp:cNvSpPr/>
      </dsp:nvSpPr>
      <dsp:spPr>
        <a:xfrm>
          <a:off x="0" y="1519356"/>
          <a:ext cx="6367912" cy="798525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Monday and Friday</a:t>
          </a:r>
          <a:r>
            <a:rPr lang="en-GB" sz="2000" kern="1200"/>
            <a:t> are the busiest days, driving the highest transaction volumes.</a:t>
          </a:r>
          <a:endParaRPr lang="en-US" sz="2000" kern="1200"/>
        </a:p>
      </dsp:txBody>
      <dsp:txXfrm>
        <a:off x="38981" y="1558337"/>
        <a:ext cx="6289950" cy="720563"/>
      </dsp:txXfrm>
    </dsp:sp>
    <dsp:sp modelId="{0870D7E3-F165-4479-8D6D-C6424496314E}">
      <dsp:nvSpPr>
        <dsp:cNvPr id="0" name=""/>
        <dsp:cNvSpPr/>
      </dsp:nvSpPr>
      <dsp:spPr>
        <a:xfrm>
          <a:off x="0" y="2375481"/>
          <a:ext cx="6367912" cy="798525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Saturday and Sunday</a:t>
          </a:r>
          <a:r>
            <a:rPr lang="en-GB" sz="2000" kern="1200"/>
            <a:t> see slightly lower transactions, indicating a leisure-oriented weekend customer base.</a:t>
          </a:r>
          <a:endParaRPr lang="en-US" sz="2000" kern="1200"/>
        </a:p>
      </dsp:txBody>
      <dsp:txXfrm>
        <a:off x="38981" y="2414462"/>
        <a:ext cx="6289950" cy="720563"/>
      </dsp:txXfrm>
    </dsp:sp>
    <dsp:sp modelId="{0137F01E-1907-41C2-B350-4043D9E4E619}">
      <dsp:nvSpPr>
        <dsp:cNvPr id="0" name=""/>
        <dsp:cNvSpPr/>
      </dsp:nvSpPr>
      <dsp:spPr>
        <a:xfrm>
          <a:off x="0" y="3231606"/>
          <a:ext cx="6367912" cy="798525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All branches show consistent daily transaction patterns</a:t>
          </a:r>
          <a:r>
            <a:rPr lang="en-GB" sz="2000" kern="1200"/>
            <a:t>, with minor variations.</a:t>
          </a:r>
          <a:endParaRPr lang="en-US" sz="2000" kern="1200"/>
        </a:p>
      </dsp:txBody>
      <dsp:txXfrm>
        <a:off x="38981" y="3270587"/>
        <a:ext cx="6289950" cy="720563"/>
      </dsp:txXfrm>
    </dsp:sp>
    <dsp:sp modelId="{BD50E32D-D8B2-4AEA-BE71-47B88BA3D3D1}">
      <dsp:nvSpPr>
        <dsp:cNvPr id="0" name=""/>
        <dsp:cNvSpPr/>
      </dsp:nvSpPr>
      <dsp:spPr>
        <a:xfrm>
          <a:off x="0" y="4087731"/>
          <a:ext cx="6367912" cy="798525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Lower Manhattan</a:t>
          </a:r>
          <a:r>
            <a:rPr lang="en-GB" sz="2000" kern="1200"/>
            <a:t> maintains stable traffic across all days, including weekends.</a:t>
          </a:r>
          <a:endParaRPr lang="en-US" sz="2000" kern="1200"/>
        </a:p>
      </dsp:txBody>
      <dsp:txXfrm>
        <a:off x="38981" y="4126712"/>
        <a:ext cx="6289950" cy="720563"/>
      </dsp:txXfrm>
    </dsp:sp>
    <dsp:sp modelId="{60BFD94E-7566-47D6-A592-9FF3070B0573}">
      <dsp:nvSpPr>
        <dsp:cNvPr id="0" name=""/>
        <dsp:cNvSpPr/>
      </dsp:nvSpPr>
      <dsp:spPr>
        <a:xfrm>
          <a:off x="0" y="4943856"/>
          <a:ext cx="6367912" cy="798525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Insights can guide </a:t>
          </a:r>
          <a:r>
            <a:rPr lang="en-GB" sz="2000" b="1" kern="1200"/>
            <a:t>staffing, inventory, and targeted promotions</a:t>
          </a:r>
          <a:r>
            <a:rPr lang="en-GB" sz="2000" kern="1200"/>
            <a:t> to maximize revenue.</a:t>
          </a:r>
          <a:endParaRPr lang="en-US" sz="2000" kern="1200"/>
        </a:p>
      </dsp:txBody>
      <dsp:txXfrm>
        <a:off x="38981" y="4982837"/>
        <a:ext cx="6289950" cy="720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54060-1655-4A9B-9C33-37446C656A94}">
      <dsp:nvSpPr>
        <dsp:cNvPr id="0" name=""/>
        <dsp:cNvSpPr/>
      </dsp:nvSpPr>
      <dsp:spPr>
        <a:xfrm>
          <a:off x="0" y="5500197"/>
          <a:ext cx="6367912" cy="9023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Potential to benchmark:</a:t>
          </a:r>
          <a:r>
            <a:rPr lang="en-GB" sz="1600" kern="1200"/>
            <a:t> Hell’s Kitchen may serve as the performance benchmark for best practices.</a:t>
          </a:r>
          <a:endParaRPr lang="en-US" sz="1600" kern="1200"/>
        </a:p>
      </dsp:txBody>
      <dsp:txXfrm>
        <a:off x="0" y="5500197"/>
        <a:ext cx="6367912" cy="902353"/>
      </dsp:txXfrm>
    </dsp:sp>
    <dsp:sp modelId="{F22CA860-9871-4504-B626-F63E616B4368}">
      <dsp:nvSpPr>
        <dsp:cNvPr id="0" name=""/>
        <dsp:cNvSpPr/>
      </dsp:nvSpPr>
      <dsp:spPr>
        <a:xfrm rot="10800000">
          <a:off x="0" y="4125913"/>
          <a:ext cx="6367912" cy="1387819"/>
        </a:xfrm>
        <a:prstGeom prst="upArrowCallou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Seasonality:</a:t>
          </a:r>
          <a:r>
            <a:rPr lang="en-GB" sz="1600" kern="1200"/>
            <a:t> Growth begins March (likely linked to warmer weather or tourist activity).</a:t>
          </a:r>
          <a:endParaRPr lang="en-US" sz="1600" kern="1200"/>
        </a:p>
      </dsp:txBody>
      <dsp:txXfrm rot="10800000">
        <a:off x="0" y="4125913"/>
        <a:ext cx="6367912" cy="901763"/>
      </dsp:txXfrm>
    </dsp:sp>
    <dsp:sp modelId="{BC9A4A15-5C34-4A65-A410-A50FADF344B0}">
      <dsp:nvSpPr>
        <dsp:cNvPr id="0" name=""/>
        <dsp:cNvSpPr/>
      </dsp:nvSpPr>
      <dsp:spPr>
        <a:xfrm rot="10800000">
          <a:off x="0" y="2751629"/>
          <a:ext cx="6367912" cy="1387819"/>
        </a:xfrm>
        <a:prstGeom prst="upArrowCallou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Strong revenue momentum:</a:t>
          </a:r>
          <a:r>
            <a:rPr lang="en-GB" sz="1600" kern="1200"/>
            <a:t> From Feb dip to consistent growth till Jun — momentum can be leveraged for expansion or product launches.</a:t>
          </a:r>
          <a:endParaRPr lang="en-US" sz="1600" kern="1200"/>
        </a:p>
      </dsp:txBody>
      <dsp:txXfrm rot="10800000">
        <a:off x="0" y="2751629"/>
        <a:ext cx="6367912" cy="901763"/>
      </dsp:txXfrm>
    </dsp:sp>
    <dsp:sp modelId="{BB91100E-62AC-4423-8C57-9CEEAEAF8128}">
      <dsp:nvSpPr>
        <dsp:cNvPr id="0" name=""/>
        <dsp:cNvSpPr/>
      </dsp:nvSpPr>
      <dsp:spPr>
        <a:xfrm rot="10800000">
          <a:off x="0" y="1377345"/>
          <a:ext cx="6367912" cy="1387819"/>
        </a:xfrm>
        <a:prstGeom prst="upArrowCallou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Balanced branch performance:</a:t>
          </a:r>
          <a:r>
            <a:rPr lang="en-GB" sz="1600" kern="1200"/>
            <a:t> No underperforming store — all within 1–2% of each other.</a:t>
          </a:r>
          <a:endParaRPr lang="en-US" sz="1600" kern="1200"/>
        </a:p>
      </dsp:txBody>
      <dsp:txXfrm rot="10800000">
        <a:off x="0" y="1377345"/>
        <a:ext cx="6367912" cy="901763"/>
      </dsp:txXfrm>
    </dsp:sp>
    <dsp:sp modelId="{07BBF3EC-88E7-447F-8F86-47BDB6958FBB}">
      <dsp:nvSpPr>
        <dsp:cNvPr id="0" name=""/>
        <dsp:cNvSpPr/>
      </dsp:nvSpPr>
      <dsp:spPr>
        <a:xfrm rot="10800000">
          <a:off x="0" y="3062"/>
          <a:ext cx="6367912" cy="1387819"/>
        </a:xfrm>
        <a:prstGeom prst="upArrowCallou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5. Key Business Insights</a:t>
          </a:r>
          <a:endParaRPr lang="en-US" sz="1600" kern="1200"/>
        </a:p>
      </dsp:txBody>
      <dsp:txXfrm rot="10800000">
        <a:off x="0" y="3062"/>
        <a:ext cx="6367912" cy="901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B0D33-7EAD-4CBB-898F-CF29631D0AC8}">
      <dsp:nvSpPr>
        <dsp:cNvPr id="0" name=""/>
        <dsp:cNvSpPr/>
      </dsp:nvSpPr>
      <dsp:spPr>
        <a:xfrm>
          <a:off x="0" y="782976"/>
          <a:ext cx="6367912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Coffee is the main revenue driver, contributing nearly </a:t>
          </a:r>
          <a:r>
            <a:rPr lang="en-GB" sz="2300" b="1" kern="1200"/>
            <a:t>40%</a:t>
          </a:r>
          <a:r>
            <a:rPr lang="en-GB" sz="2300" kern="1200"/>
            <a:t> of total sales.</a:t>
          </a:r>
          <a:endParaRPr lang="en-US" sz="2300" kern="1200"/>
        </a:p>
      </dsp:txBody>
      <dsp:txXfrm>
        <a:off x="44664" y="827640"/>
        <a:ext cx="6278584" cy="825612"/>
      </dsp:txXfrm>
    </dsp:sp>
    <dsp:sp modelId="{C771A307-F5E8-4B35-9270-7B30C351B0A4}">
      <dsp:nvSpPr>
        <dsp:cNvPr id="0" name=""/>
        <dsp:cNvSpPr/>
      </dsp:nvSpPr>
      <dsp:spPr>
        <a:xfrm>
          <a:off x="0" y="1764156"/>
          <a:ext cx="6367912" cy="91494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Tea provides strong, steady growth and complements coffee performance.</a:t>
          </a:r>
          <a:endParaRPr lang="en-US" sz="2300" kern="1200"/>
        </a:p>
      </dsp:txBody>
      <dsp:txXfrm>
        <a:off x="44664" y="1808820"/>
        <a:ext cx="6278584" cy="825612"/>
      </dsp:txXfrm>
    </dsp:sp>
    <dsp:sp modelId="{242749B0-124A-4D7B-A1C9-27D1620028FA}">
      <dsp:nvSpPr>
        <dsp:cNvPr id="0" name=""/>
        <dsp:cNvSpPr/>
      </dsp:nvSpPr>
      <dsp:spPr>
        <a:xfrm>
          <a:off x="0" y="2745336"/>
          <a:ext cx="6367912" cy="9149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Bakery and Drinking Chocolate categories have </a:t>
          </a:r>
          <a:r>
            <a:rPr lang="en-GB" sz="2300" b="1" kern="1200"/>
            <a:t>doubled sales</a:t>
          </a:r>
          <a:r>
            <a:rPr lang="en-GB" sz="2300" kern="1200"/>
            <a:t>, showing strong upsell potential.</a:t>
          </a:r>
          <a:endParaRPr lang="en-US" sz="2300" kern="1200"/>
        </a:p>
      </dsp:txBody>
      <dsp:txXfrm>
        <a:off x="44664" y="2790000"/>
        <a:ext cx="6278584" cy="825612"/>
      </dsp:txXfrm>
    </dsp:sp>
    <dsp:sp modelId="{BA423137-3F3A-467B-A7F1-1C02300CCE9A}">
      <dsp:nvSpPr>
        <dsp:cNvPr id="0" name=""/>
        <dsp:cNvSpPr/>
      </dsp:nvSpPr>
      <dsp:spPr>
        <a:xfrm>
          <a:off x="0" y="3726516"/>
          <a:ext cx="6367912" cy="91494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Total revenue grew </a:t>
          </a:r>
          <a:r>
            <a:rPr lang="en-GB" sz="2300" b="1" kern="1200"/>
            <a:t>over 100%</a:t>
          </a:r>
          <a:r>
            <a:rPr lang="en-GB" sz="2300" kern="1200"/>
            <a:t> from January to June, indicating strong momentum.</a:t>
          </a:r>
          <a:endParaRPr lang="en-US" sz="2300" kern="1200"/>
        </a:p>
      </dsp:txBody>
      <dsp:txXfrm>
        <a:off x="44664" y="3771180"/>
        <a:ext cx="6278584" cy="825612"/>
      </dsp:txXfrm>
    </dsp:sp>
    <dsp:sp modelId="{FA6394C7-4BF3-4CD2-BA85-A965937F2B66}">
      <dsp:nvSpPr>
        <dsp:cNvPr id="0" name=""/>
        <dsp:cNvSpPr/>
      </dsp:nvSpPr>
      <dsp:spPr>
        <a:xfrm>
          <a:off x="0" y="4707696"/>
          <a:ext cx="6367912" cy="9149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Smaller categories offer </a:t>
          </a:r>
          <a:r>
            <a:rPr lang="en-GB" sz="2300" b="1" kern="1200"/>
            <a:t>cross-sell and upsell opportunities</a:t>
          </a:r>
          <a:r>
            <a:rPr lang="en-GB" sz="2300" kern="1200"/>
            <a:t> to boost overall revenue.</a:t>
          </a:r>
          <a:endParaRPr lang="en-US" sz="2300" kern="1200"/>
        </a:p>
      </dsp:txBody>
      <dsp:txXfrm>
        <a:off x="44664" y="4752360"/>
        <a:ext cx="6278584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63427-0144-4DD7-A1CC-3CA461C2BD57}">
      <dsp:nvSpPr>
        <dsp:cNvPr id="0" name=""/>
        <dsp:cNvSpPr/>
      </dsp:nvSpPr>
      <dsp:spPr>
        <a:xfrm>
          <a:off x="443226" y="710755"/>
          <a:ext cx="4055664" cy="4055664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Coffee is the top-selling product every day, driving the majority of weekly revenue.</a:t>
          </a:r>
          <a:endParaRPr lang="en-US" sz="1000" kern="1200"/>
        </a:p>
      </dsp:txBody>
      <dsp:txXfrm>
        <a:off x="2558931" y="1392493"/>
        <a:ext cx="1303606" cy="869070"/>
      </dsp:txXfrm>
    </dsp:sp>
    <dsp:sp modelId="{20106B9D-1AD8-4871-8637-A513709337B1}">
      <dsp:nvSpPr>
        <dsp:cNvPr id="0" name=""/>
        <dsp:cNvSpPr/>
      </dsp:nvSpPr>
      <dsp:spPr>
        <a:xfrm>
          <a:off x="477989" y="818906"/>
          <a:ext cx="4055664" cy="4055664"/>
        </a:xfrm>
        <a:prstGeom prst="pie">
          <a:avLst>
            <a:gd name="adj1" fmla="val 20520000"/>
            <a:gd name="adj2" fmla="val 32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Monday and Friday are the </a:t>
          </a:r>
          <a:r>
            <a:rPr lang="en-GB" sz="1000" b="1" kern="1200"/>
            <a:t>highest-earning days</a:t>
          </a:r>
          <a:r>
            <a:rPr lang="en-GB" sz="1000" kern="1200"/>
            <a:t>, supported by strong bakery and coffee sales.</a:t>
          </a:r>
          <a:endParaRPr lang="en-US" sz="1000" kern="1200"/>
        </a:p>
      </dsp:txBody>
      <dsp:txXfrm>
        <a:off x="3090030" y="2671958"/>
        <a:ext cx="1207043" cy="965634"/>
      </dsp:txXfrm>
    </dsp:sp>
    <dsp:sp modelId="{EE523024-A1B9-40D2-AAC5-FCF92466373A}">
      <dsp:nvSpPr>
        <dsp:cNvPr id="0" name=""/>
        <dsp:cNvSpPr/>
      </dsp:nvSpPr>
      <dsp:spPr>
        <a:xfrm>
          <a:off x="386253" y="885535"/>
          <a:ext cx="4055664" cy="4055664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Weekend sales remain </a:t>
          </a:r>
          <a:r>
            <a:rPr lang="en-GB" sz="1000" b="1" kern="1200"/>
            <a:t>steady but slightly lower</a:t>
          </a:r>
          <a:r>
            <a:rPr lang="en-GB" sz="1000" kern="1200"/>
            <a:t>, driven by tea and chocolate items.</a:t>
          </a:r>
          <a:endParaRPr lang="en-US" sz="1000" kern="1200"/>
        </a:p>
      </dsp:txBody>
      <dsp:txXfrm>
        <a:off x="1834705" y="3734156"/>
        <a:ext cx="1158761" cy="1062197"/>
      </dsp:txXfrm>
    </dsp:sp>
    <dsp:sp modelId="{FE444C58-E17F-4F7C-98F9-B14B2BD12258}">
      <dsp:nvSpPr>
        <dsp:cNvPr id="0" name=""/>
        <dsp:cNvSpPr/>
      </dsp:nvSpPr>
      <dsp:spPr>
        <a:xfrm>
          <a:off x="294518" y="818906"/>
          <a:ext cx="4055664" cy="4055664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Bakery and Drinking Chocolate perform well together — ideal for combo promotions.</a:t>
          </a:r>
          <a:endParaRPr lang="en-US" sz="1000" kern="1200"/>
        </a:p>
      </dsp:txBody>
      <dsp:txXfrm>
        <a:off x="531098" y="2671958"/>
        <a:ext cx="1207043" cy="965634"/>
      </dsp:txXfrm>
    </dsp:sp>
    <dsp:sp modelId="{81F34B69-9DBE-44A4-BAAF-A5BE39356341}">
      <dsp:nvSpPr>
        <dsp:cNvPr id="0" name=""/>
        <dsp:cNvSpPr/>
      </dsp:nvSpPr>
      <dsp:spPr>
        <a:xfrm>
          <a:off x="329281" y="710755"/>
          <a:ext cx="4055664" cy="4055664"/>
        </a:xfrm>
        <a:prstGeom prst="pie">
          <a:avLst>
            <a:gd name="adj1" fmla="val 1188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Tea shows </a:t>
          </a:r>
          <a:r>
            <a:rPr lang="en-GB" sz="1000" b="1" kern="1200"/>
            <a:t>consistent daily sales</a:t>
          </a:r>
          <a:r>
            <a:rPr lang="en-GB" sz="1000" kern="1200"/>
            <a:t>, adding balance and reliability to weekly performance.</a:t>
          </a:r>
          <a:endParaRPr lang="en-US" sz="1000" kern="1200"/>
        </a:p>
      </dsp:txBody>
      <dsp:txXfrm>
        <a:off x="965634" y="1392493"/>
        <a:ext cx="1303606" cy="869070"/>
      </dsp:txXfrm>
    </dsp:sp>
    <dsp:sp modelId="{E5900F65-25FF-40AF-926D-21566C567C6B}">
      <dsp:nvSpPr>
        <dsp:cNvPr id="0" name=""/>
        <dsp:cNvSpPr/>
      </dsp:nvSpPr>
      <dsp:spPr>
        <a:xfrm>
          <a:off x="191970" y="459690"/>
          <a:ext cx="4557794" cy="4557794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E1B0A-9F13-49E0-B075-711002B93E9C}">
      <dsp:nvSpPr>
        <dsp:cNvPr id="0" name=""/>
        <dsp:cNvSpPr/>
      </dsp:nvSpPr>
      <dsp:spPr>
        <a:xfrm>
          <a:off x="227204" y="567805"/>
          <a:ext cx="4557794" cy="4557794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ACF9F-D059-483C-B0BA-BFAE9A926C63}">
      <dsp:nvSpPr>
        <dsp:cNvPr id="0" name=""/>
        <dsp:cNvSpPr/>
      </dsp:nvSpPr>
      <dsp:spPr>
        <a:xfrm>
          <a:off x="135188" y="634638"/>
          <a:ext cx="4557794" cy="4557794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B144C-88BE-425A-976F-D9D96EBCEB3D}">
      <dsp:nvSpPr>
        <dsp:cNvPr id="0" name=""/>
        <dsp:cNvSpPr/>
      </dsp:nvSpPr>
      <dsp:spPr>
        <a:xfrm>
          <a:off x="43173" y="567805"/>
          <a:ext cx="4557794" cy="4557794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40A9B-560D-471B-A1F2-456624F61639}">
      <dsp:nvSpPr>
        <dsp:cNvPr id="0" name=""/>
        <dsp:cNvSpPr/>
      </dsp:nvSpPr>
      <dsp:spPr>
        <a:xfrm>
          <a:off x="78407" y="459690"/>
          <a:ext cx="4557794" cy="4557794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32A85-95EC-403B-893A-CC1B7DA32F4B}">
      <dsp:nvSpPr>
        <dsp:cNvPr id="0" name=""/>
        <dsp:cNvSpPr/>
      </dsp:nvSpPr>
      <dsp:spPr>
        <a:xfrm>
          <a:off x="0" y="888186"/>
          <a:ext cx="6367912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Coffee and Tea</a:t>
          </a:r>
          <a:r>
            <a:rPr lang="en-GB" sz="2200" kern="1200"/>
            <a:t> are the main revenue drivers, contributing </a:t>
          </a:r>
          <a:r>
            <a:rPr lang="en-GB" sz="2200" b="1" kern="1200"/>
            <a:t>over 65%</a:t>
          </a:r>
          <a:r>
            <a:rPr lang="en-GB" sz="2200" kern="1200"/>
            <a:t> of total sales.</a:t>
          </a:r>
          <a:endParaRPr lang="en-US" sz="2200" kern="1200"/>
        </a:p>
      </dsp:txBody>
      <dsp:txXfrm>
        <a:off x="42722" y="930908"/>
        <a:ext cx="6282468" cy="789716"/>
      </dsp:txXfrm>
    </dsp:sp>
    <dsp:sp modelId="{265401F2-A0CE-4D39-81C5-4EFAAA11D9EB}">
      <dsp:nvSpPr>
        <dsp:cNvPr id="0" name=""/>
        <dsp:cNvSpPr/>
      </dsp:nvSpPr>
      <dsp:spPr>
        <a:xfrm>
          <a:off x="0" y="1826706"/>
          <a:ext cx="6367912" cy="87516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Bakery and Drinking Chocolate</a:t>
          </a:r>
          <a:r>
            <a:rPr lang="en-GB" sz="2200" kern="1200"/>
            <a:t> strengthen beverage sales through strong combo potential.</a:t>
          </a:r>
          <a:endParaRPr lang="en-US" sz="2200" kern="1200"/>
        </a:p>
      </dsp:txBody>
      <dsp:txXfrm>
        <a:off x="42722" y="1869428"/>
        <a:ext cx="6282468" cy="789716"/>
      </dsp:txXfrm>
    </dsp:sp>
    <dsp:sp modelId="{1D245009-384B-446A-8199-35BB1201ADA5}">
      <dsp:nvSpPr>
        <dsp:cNvPr id="0" name=""/>
        <dsp:cNvSpPr/>
      </dsp:nvSpPr>
      <dsp:spPr>
        <a:xfrm>
          <a:off x="0" y="2765226"/>
          <a:ext cx="6367912" cy="8751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Coffee Beans</a:t>
          </a:r>
          <a:r>
            <a:rPr lang="en-GB" sz="2200" kern="1200"/>
            <a:t> show high-value sales despite low volume — indicating </a:t>
          </a:r>
          <a:r>
            <a:rPr lang="en-GB" sz="2200" b="1" kern="1200"/>
            <a:t>premium appeal</a:t>
          </a:r>
          <a:r>
            <a:rPr lang="en-GB" sz="2200" kern="1200"/>
            <a:t>.</a:t>
          </a:r>
          <a:endParaRPr lang="en-US" sz="2200" kern="1200"/>
        </a:p>
      </dsp:txBody>
      <dsp:txXfrm>
        <a:off x="42722" y="2807948"/>
        <a:ext cx="6282468" cy="789716"/>
      </dsp:txXfrm>
    </dsp:sp>
    <dsp:sp modelId="{2E4900EB-0CEB-45BF-BD68-85034929F54E}">
      <dsp:nvSpPr>
        <dsp:cNvPr id="0" name=""/>
        <dsp:cNvSpPr/>
      </dsp:nvSpPr>
      <dsp:spPr>
        <a:xfrm>
          <a:off x="0" y="3703746"/>
          <a:ext cx="6367912" cy="87516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Flavours and Packaged Chocolate</a:t>
          </a:r>
          <a:r>
            <a:rPr lang="en-GB" sz="2200" kern="1200"/>
            <a:t> underperform and may need </a:t>
          </a:r>
          <a:r>
            <a:rPr lang="en-GB" sz="2200" b="1" kern="1200"/>
            <a:t>promotion or repositioning</a:t>
          </a:r>
          <a:r>
            <a:rPr lang="en-GB" sz="2200" kern="1200"/>
            <a:t>.</a:t>
          </a:r>
          <a:endParaRPr lang="en-US" sz="2200" kern="1200"/>
        </a:p>
      </dsp:txBody>
      <dsp:txXfrm>
        <a:off x="42722" y="3746468"/>
        <a:ext cx="6282468" cy="789716"/>
      </dsp:txXfrm>
    </dsp:sp>
    <dsp:sp modelId="{E91A8C6E-8E0F-43F4-AF77-4D82252F3687}">
      <dsp:nvSpPr>
        <dsp:cNvPr id="0" name=""/>
        <dsp:cNvSpPr/>
      </dsp:nvSpPr>
      <dsp:spPr>
        <a:xfrm>
          <a:off x="0" y="4642266"/>
          <a:ext cx="6367912" cy="8751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shop’s strength lies in </a:t>
          </a:r>
          <a:r>
            <a:rPr lang="en-GB" sz="2200" b="1" kern="1200"/>
            <a:t>beverage-led growth</a:t>
          </a:r>
          <a:r>
            <a:rPr lang="en-GB" sz="2200" kern="1200"/>
            <a:t>, supported by </a:t>
          </a:r>
          <a:r>
            <a:rPr lang="en-GB" sz="2200" b="1" kern="1200"/>
            <a:t>strategic food pairings</a:t>
          </a:r>
          <a:r>
            <a:rPr lang="en-GB" sz="2200" kern="1200"/>
            <a:t>.</a:t>
          </a:r>
          <a:endParaRPr lang="en-US" sz="2200" kern="1200"/>
        </a:p>
      </dsp:txBody>
      <dsp:txXfrm>
        <a:off x="42722" y="4684988"/>
        <a:ext cx="6282468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A8B9-31E8-81D6-690F-45E060E26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68A1C-EA2C-B3F8-4470-0F7600989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ECAE-9295-7CEA-2014-E1DAD5EF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6077-3A79-D8F9-AA5F-64D72C28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FEEFD-2530-0CAA-4805-AEB8616C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15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336F-4C81-EE90-B122-BE87EF14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B088B-C288-05A5-ED21-8F9853D1E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B8E50-4E38-E0AD-52AB-0D55C514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08BCF-9501-43DA-6B9A-8206EDCF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C282-57FE-E8CB-B111-94F4A2B1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8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9FFA-CB75-3E55-F05D-354D763B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79759-80EE-DB46-13BB-C3327EE1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DA5F-E0D4-FB41-F1F0-68605307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2BEE-4187-BB0B-ABE0-99E6A012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86B1F-D6FA-1E34-06FF-6A73CDEF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3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8C32-B137-EA59-61A3-7F4A2F27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5CE9-9FDD-02AF-2C81-A98D308F7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45BD4-F723-B4CD-5295-823AEEA43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208E6-F12B-1DAD-9986-187417E2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208FF-C197-60BA-11DD-3496A6C8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93918-3A77-C01F-DC81-C77A969E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A445-A798-E247-E007-D74A089C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51FD7-EA01-7FAB-53E5-9D58501BC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B04AC-19FB-D8AC-D82B-B2106ACAA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09299-59F5-7B48-8874-76F73ABFE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00BBB-63C5-4F9F-EF5C-3461076E8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88F49-A4F0-37BA-27B8-592FC72D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1CCE5-F6F5-8017-3BBC-52E11215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6020F-D7D8-8AB2-98B6-4B76F756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3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512A-8C2D-ED06-FC3D-3118A1D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A533F-B576-53E5-1490-21C900DA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A7A4D-C37A-CC3C-D5CB-F340E44B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A6019-1D2A-B744-F161-6FE3353F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2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985B6-154C-E232-E970-1261A360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6F254-4AC9-47B7-F107-3C0AF3B8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EB63B-5097-F932-8587-249B446A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72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A86B-1CA9-69B7-9B23-675E3059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4415-20F3-37A6-05D7-665F8B255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4BE9F-7E5E-6886-6793-BFBD024F7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5FEEB-AD95-6060-FD72-8125B7CF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95B6B-D9B5-D085-824E-C300BA3A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1D9B1-F753-52AE-79CA-4FD5EF56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6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CE01-8025-2327-3ACE-1B2B69950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C6F0C5-41FC-F2E1-DC46-F3DA3E9E5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80FED-E2F1-AD33-8132-D03C05301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8C1FF-36E0-3761-04D0-C6240A40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3C56A-ED94-54CC-56D6-857F8D95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DCA7-4985-A866-1543-DFADFD74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C798-F0AD-4CAD-ED61-C3EF2CE3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C4E3A-A083-5871-3984-3C5504026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AE09A-A993-E536-5812-DC7591B8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4E801-F103-F950-5F69-57E2F13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8128-2FB6-395F-5CDA-E406F845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5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C04DF-54F5-5C64-6D1B-4F286C91E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BB77D-EAF7-6E65-6095-6F711C3D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52CCF-27F8-0376-F958-FCD4E0D4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51005-2FCE-8103-761F-854F71E8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3C72-F172-10CE-F0BC-E18AC0FA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89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F2859-2F43-5093-720D-1938EE0F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92950-4654-77AF-F555-7B46510C9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027BA-0848-A346-A52B-59D40A2A8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D9EA9-5712-EBE8-7808-F02D02461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EB2B5-58A8-1AF1-405D-128A804EF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14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3" r="25305" b="5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/>
              <a:t>Bright Coffee Shop Sales Analysis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Musawakhe Andrew Nzama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CB232-3A7B-1393-0CBD-B404F24C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Purpose and Learning</a:t>
            </a:r>
            <a:br>
              <a:rPr lang="en-ZA" sz="4800">
                <a:solidFill>
                  <a:schemeClr val="bg1"/>
                </a:solidFill>
              </a:rPr>
            </a:br>
            <a:r>
              <a:rPr lang="en-ZA" sz="480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91B0-C9EF-FF72-EE94-B385D477D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ZA" sz="1500" dirty="0">
              <a:solidFill>
                <a:schemeClr val="tx2"/>
              </a:solidFill>
            </a:endParaRPr>
          </a:p>
          <a:p>
            <a:r>
              <a:rPr lang="en-GB" sz="1500" b="1" dirty="0">
                <a:solidFill>
                  <a:schemeClr val="tx2"/>
                </a:solidFill>
              </a:rPr>
              <a:t>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To provide the new CEO with actionable insights from historical sales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To identify </a:t>
            </a:r>
            <a:r>
              <a:rPr lang="en-GB" sz="1500" b="1" dirty="0">
                <a:solidFill>
                  <a:schemeClr val="tx2"/>
                </a:solidFill>
              </a:rPr>
              <a:t>top-performing products, revenue trends, and peak sales periods</a:t>
            </a:r>
            <a:r>
              <a:rPr lang="en-GB" sz="1500" dirty="0">
                <a:solidFill>
                  <a:schemeClr val="tx2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To inform decisions on </a:t>
            </a:r>
            <a:r>
              <a:rPr lang="en-GB" sz="1500" b="1" dirty="0">
                <a:solidFill>
                  <a:schemeClr val="tx2"/>
                </a:solidFill>
              </a:rPr>
              <a:t>menu strategy, promotions, and operational improvements</a:t>
            </a:r>
            <a:r>
              <a:rPr lang="en-GB" sz="1500" dirty="0">
                <a:solidFill>
                  <a:schemeClr val="tx2"/>
                </a:solidFill>
              </a:rPr>
              <a:t> to grow revenue.</a:t>
            </a:r>
          </a:p>
          <a:p>
            <a:r>
              <a:rPr lang="en-GB" sz="1500" b="1" dirty="0">
                <a:solidFill>
                  <a:schemeClr val="tx2"/>
                </a:solidFill>
              </a:rPr>
              <a:t>Learning Objectives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Understand which </a:t>
            </a:r>
            <a:r>
              <a:rPr lang="en-GB" sz="1500" b="1" dirty="0">
                <a:solidFill>
                  <a:schemeClr val="tx2"/>
                </a:solidFill>
              </a:rPr>
              <a:t>products drive the most revenue</a:t>
            </a:r>
            <a:r>
              <a:rPr lang="en-GB" sz="1500" dirty="0">
                <a:solidFill>
                  <a:schemeClr val="tx2"/>
                </a:solidFill>
              </a:rPr>
              <a:t> and why.</a:t>
            </a:r>
          </a:p>
          <a:p>
            <a:pPr>
              <a:buFont typeface="+mj-lt"/>
              <a:buAutoNum type="arabicPeriod"/>
            </a:pPr>
            <a:r>
              <a:rPr lang="en-GB" sz="1500" dirty="0" err="1">
                <a:solidFill>
                  <a:schemeClr val="tx2"/>
                </a:solidFill>
              </a:rPr>
              <a:t>Analyze</a:t>
            </a:r>
            <a:r>
              <a:rPr lang="en-GB" sz="1500" dirty="0">
                <a:solidFill>
                  <a:schemeClr val="tx2"/>
                </a:solidFill>
              </a:rPr>
              <a:t> </a:t>
            </a:r>
            <a:r>
              <a:rPr lang="en-GB" sz="1500" b="1" dirty="0">
                <a:solidFill>
                  <a:schemeClr val="tx2"/>
                </a:solidFill>
              </a:rPr>
              <a:t>sales trends by day, week, and category</a:t>
            </a:r>
            <a:r>
              <a:rPr lang="en-GB" sz="1500" dirty="0">
                <a:solidFill>
                  <a:schemeClr val="tx2"/>
                </a:solidFill>
              </a:rPr>
              <a:t> to identify patterns.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Identify </a:t>
            </a:r>
            <a:r>
              <a:rPr lang="en-GB" sz="1500" b="1" dirty="0">
                <a:solidFill>
                  <a:schemeClr val="tx2"/>
                </a:solidFill>
              </a:rPr>
              <a:t>high-growth and underperforming product categories</a:t>
            </a:r>
            <a:r>
              <a:rPr lang="en-GB" sz="1500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Recommend strategies for </a:t>
            </a:r>
            <a:r>
              <a:rPr lang="en-GB" sz="1500" b="1" dirty="0">
                <a:solidFill>
                  <a:schemeClr val="tx2"/>
                </a:solidFill>
              </a:rPr>
              <a:t>upselling, bundling, and promotions</a:t>
            </a:r>
            <a:r>
              <a:rPr lang="en-GB" sz="1500" dirty="0">
                <a:solidFill>
                  <a:schemeClr val="tx2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1500" dirty="0">
                <a:solidFill>
                  <a:schemeClr val="tx2"/>
                </a:solidFill>
              </a:rPr>
              <a:t>Use data to </a:t>
            </a:r>
            <a:r>
              <a:rPr lang="en-GB" sz="1500" b="1" dirty="0">
                <a:solidFill>
                  <a:schemeClr val="tx2"/>
                </a:solidFill>
              </a:rPr>
              <a:t>optimize operations, staffing, and inventory</a:t>
            </a:r>
            <a:r>
              <a:rPr lang="en-GB" sz="1500" dirty="0">
                <a:solidFill>
                  <a:schemeClr val="tx2"/>
                </a:solidFill>
              </a:rPr>
              <a:t> for better performance.</a:t>
            </a:r>
          </a:p>
          <a:p>
            <a:endParaRPr lang="en-ZA" sz="1500" dirty="0">
              <a:solidFill>
                <a:schemeClr val="tx2"/>
              </a:solidFill>
            </a:endParaRPr>
          </a:p>
          <a:p>
            <a:endParaRPr lang="en-ZA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41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61B33E-C774-F1A3-1D44-C8E53A9F7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               Weekly Revenue by Store</a:t>
            </a:r>
            <a:br>
              <a:rPr lang="en-ZA" sz="4800">
                <a:solidFill>
                  <a:schemeClr val="bg1"/>
                </a:solidFill>
              </a:rPr>
            </a:br>
            <a:endParaRPr lang="en-ZA" sz="480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094CA3B-D080-36E3-AC43-4C318AF04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20145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7171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A62EB-F137-0D03-A441-036BFB27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Weekly Store Performance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39AAB0-3EFD-D1BB-9D1D-718E764F9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11856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417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A08AC1-404D-B0EE-ACCC-EF9AAC2C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Monthly Revenue by Locations</a:t>
            </a:r>
          </a:p>
        </p:txBody>
      </p:sp>
      <p:graphicFrame>
        <p:nvGraphicFramePr>
          <p:cNvPr id="30" name="Content Placeholder 29">
            <a:extLst>
              <a:ext uri="{FF2B5EF4-FFF2-40B4-BE49-F238E27FC236}">
                <a16:creationId xmlns:a16="http://schemas.microsoft.com/office/drawing/2014/main" id="{55B8A77B-D0F1-6EE9-6197-302F10856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6429780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756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22FA86-D071-1DD4-09DD-2B96339A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Revenue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5C837-6298-CAD1-525A-46B2D24B9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367227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21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47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7E0298-CBF2-CDBB-14EF-3CB82297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Revenue by Product Categories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C99B75-E397-8C27-2B5D-3C65A3B3A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245085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49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34A426-0A0B-DCC6-B8EF-E77B5F4F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Revenue Insights – Product Category</a:t>
            </a:r>
            <a:br>
              <a:rPr lang="en-GB" sz="4800">
                <a:solidFill>
                  <a:schemeClr val="bg1"/>
                </a:solidFill>
              </a:rPr>
            </a:br>
            <a:endParaRPr lang="en-ZA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5FD9C3-6BE4-77B7-D00E-B43F64A71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54504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90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94D167-874A-16CD-0ECD-3A1D7BA2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      Weekly Revenue by Product Sold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D14F91-AD1C-4E6C-6AD9-22FB75E96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130082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453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9AC23E-89FB-A1AC-F2AF-35209A2D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Weekly Revenue Summary (Bright Coffee Shop)</a:t>
            </a:r>
            <a:br>
              <a:rPr lang="en-GB" sz="4800">
                <a:solidFill>
                  <a:schemeClr val="bg1"/>
                </a:solidFill>
              </a:rPr>
            </a:br>
            <a:endParaRPr lang="en-ZA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E0BAD3-3794-990F-6113-4E34FAB67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139072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0828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F1D844-F6C9-3FC1-A4BC-5EDA712F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Quantity Sold by Product Category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AA38CD-6850-5C22-A948-581D4B621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78505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805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ECDF5-6641-366C-83F5-DF1F60FF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                     Product Performance</a:t>
            </a:r>
            <a:endParaRPr lang="en-ZA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40BE40-ACE1-F120-BD05-4B0E0EFED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674314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747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869E05-8FAB-5688-59F2-00E0A9F7B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ZA" sz="4800">
                <a:solidFill>
                  <a:schemeClr val="bg1"/>
                </a:solidFill>
              </a:rPr>
              <a:t>Recommendations &amp; Actionable Insights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691020-6971-0E4E-E715-0C903854D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1584" y="540048"/>
            <a:ext cx="5652097" cy="56412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Focus on Core Beverages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Prioritize Coffee and Tea; introduce seasonal or premium variants to boost sales.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Promote High-Growth Complementary Items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Bundle Bakery and Drinking Chocolate with beverages; run peak-hour promotions.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Upsell Premium Products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Offer Coffee Beans, Loose Tea, and Flavours as take-home or add-on options.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Optimize Low-Performing Items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Reposition, bundle, or discontinue items like Packaged Chocolate and Branded Goods.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Data-Driven Operational Improvements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Track daily/weekly trends to optimize staffing, inventory, and promotions;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implement a dashboard for category performance.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8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1C4C6A-7961-4D7C-8BD4-B3AF0F79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ZA" sz="48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FA180-2358-8B6F-04AE-6FBFDA8E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The analysis of Bright Coffee Shop's sales reveals crucial insights into performance trends and customer </a:t>
            </a:r>
            <a:r>
              <a:rPr lang="en-GB" sz="1800" dirty="0" err="1">
                <a:solidFill>
                  <a:schemeClr val="tx2"/>
                </a:solidFill>
              </a:rPr>
              <a:t>behavior</a:t>
            </a:r>
            <a:r>
              <a:rPr lang="en-GB" sz="1800" dirty="0">
                <a:solidFill>
                  <a:schemeClr val="tx2"/>
                </a:solidFill>
              </a:rPr>
              <a:t>, guiding strategic decisions that can enhance profitability and long-term growth.</a:t>
            </a:r>
            <a:endParaRPr lang="en-ZA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044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662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Bright Coffee Shop Sales Analysis</vt:lpstr>
      <vt:lpstr>Purpose and Learning Objectives</vt:lpstr>
      <vt:lpstr>               Weekly Revenue by Store </vt:lpstr>
      <vt:lpstr>Weekly Store Performance Insights</vt:lpstr>
      <vt:lpstr>Monthly Revenue by Locations</vt:lpstr>
      <vt:lpstr>Revenue Insights</vt:lpstr>
      <vt:lpstr>Revenue by Product Categories</vt:lpstr>
      <vt:lpstr>Revenue Insights – Product Category </vt:lpstr>
      <vt:lpstr>      Weekly Revenue by Product Sold</vt:lpstr>
      <vt:lpstr>Weekly Revenue Summary (Bright Coffee Shop) </vt:lpstr>
      <vt:lpstr>Quantity Sold by Product Category </vt:lpstr>
      <vt:lpstr>                     Product Performance</vt:lpstr>
      <vt:lpstr>Recommendations &amp; Actionable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Nzama</dc:creator>
  <cp:lastModifiedBy>Andrew Nzama</cp:lastModifiedBy>
  <cp:revision>1</cp:revision>
  <dcterms:created xsi:type="dcterms:W3CDTF">2025-10-31T05:34:42Z</dcterms:created>
  <dcterms:modified xsi:type="dcterms:W3CDTF">2025-10-31T07:17:53Z</dcterms:modified>
</cp:coreProperties>
</file>